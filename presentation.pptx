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Montserrat Bold" charset="1" panose="00000800000000000000"/>
      <p:regular r:id="rId25"/>
    </p:embeddedFont>
    <p:embeddedFont>
      <p:font typeface="Montserrat Medium" charset="1" panose="00000600000000000000"/>
      <p:regular r:id="rId26"/>
    </p:embeddedFont>
    <p:embeddedFont>
      <p:font typeface="Montserrat Semi-Bold" charset="1" panose="00000700000000000000"/>
      <p:regular r:id="rId27"/>
    </p:embeddedFont>
    <p:embeddedFont>
      <p:font typeface="Montserrat" charset="1" panose="00000500000000000000"/>
      <p:regular r:id="rId28"/>
    </p:embeddedFont>
    <p:embeddedFont>
      <p:font typeface="Open Sans" charset="1" panose="00000000000000000000"/>
      <p:regular r:id="rId29"/>
    </p:embeddedFont>
    <p:embeddedFont>
      <p:font typeface="Open Sans Medium" charset="1" panose="00000000000000000000"/>
      <p:regular r:id="rId30"/>
    </p:embeddedFont>
    <p:embeddedFont>
      <p:font typeface="Montserrat Italics" charset="1" panose="00000500000000000000"/>
      <p:regular r:id="rId31"/>
    </p:embeddedFont>
    <p:embeddedFont>
      <p:font typeface="Montserrat Bold Italics" charset="1" panose="00000800000000000000"/>
      <p:regular r:id="rId32"/>
    </p:embeddedFont>
    <p:embeddedFont>
      <p:font typeface="Open Sans Bold" charset="1" panose="000000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religioustraumainstitute.com" TargetMode="External" Type="http://schemas.openxmlformats.org/officeDocument/2006/relationships/hyperlink"/><Relationship Id="rId11" Target="https://www.religioustraumainstitute.com" TargetMode="External" Type="http://schemas.openxmlformats.org/officeDocument/2006/relationships/hyperlink"/><Relationship Id="rId12" Target="https://www.religioustraumainstitute.com" TargetMode="External" Type="http://schemas.openxmlformats.org/officeDocument/2006/relationships/hyperlink"/><Relationship Id="rId2" Target="https://www.pewresearch.org/religion/2025/12/15/how-parents-are-raising-their-children-religiously/" TargetMode="External" Type="http://schemas.openxmlformats.org/officeDocument/2006/relationships/hyperlink"/><Relationship Id="rId3" Target="https://www.keshetonline.org/resources/affirmative-interpretive-translation-of-leviticus-1822/" TargetMode="External" Type="http://schemas.openxmlformats.org/officeDocument/2006/relationships/hyperlink"/><Relationship Id="rId4" Target="https://www.religioustraumainstitute.com" TargetMode="External" Type="http://schemas.openxmlformats.org/officeDocument/2006/relationships/hyperlink"/><Relationship Id="rId5" Target="https://www.religioustraumainstitute.com" TargetMode="External" Type="http://schemas.openxmlformats.org/officeDocument/2006/relationships/hyperlink"/><Relationship Id="rId6" Target="https://www.religioustraumainstitute.com" TargetMode="External" Type="http://schemas.openxmlformats.org/officeDocument/2006/relationships/hyperlink"/><Relationship Id="rId7" Target="https://www.religioustraumainstitute.com" TargetMode="External" Type="http://schemas.openxmlformats.org/officeDocument/2006/relationships/hyperlink"/><Relationship Id="rId8" Target="https://www.religioustraumainstitute.com" TargetMode="External" Type="http://schemas.openxmlformats.org/officeDocument/2006/relationships/hyperlink"/><Relationship Id="rId9" Target="https://www.religioustraumainstitute.com" TargetMode="External" Type="http://schemas.openxmlformats.org/officeDocument/2006/relationships/hyperlink"/></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4F1EA"/>
        </a:solidFill>
      </p:bgPr>
    </p:bg>
    <p:spTree>
      <p:nvGrpSpPr>
        <p:cNvPr id="1" name=""/>
        <p:cNvGrpSpPr/>
        <p:nvPr/>
      </p:nvGrpSpPr>
      <p:grpSpPr>
        <a:xfrm>
          <a:off x="0" y="0"/>
          <a:ext cx="0" cy="0"/>
          <a:chOff x="0" y="0"/>
          <a:chExt cx="0" cy="0"/>
        </a:xfrm>
      </p:grpSpPr>
      <p:sp>
        <p:nvSpPr>
          <p:cNvPr name="TextBox 2" id="2"/>
          <p:cNvSpPr txBox="true"/>
          <p:nvPr/>
        </p:nvSpPr>
        <p:spPr>
          <a:xfrm rot="0">
            <a:off x="3537340" y="3101721"/>
            <a:ext cx="11213319" cy="1095355"/>
          </a:xfrm>
          <a:prstGeom prst="rect">
            <a:avLst/>
          </a:prstGeom>
        </p:spPr>
        <p:txBody>
          <a:bodyPr anchor="t" rtlCol="false" tIns="0" lIns="0" bIns="0" rIns="0">
            <a:spAutoFit/>
          </a:bodyPr>
          <a:lstStyle/>
          <a:p>
            <a:pPr algn="ctr">
              <a:lnSpc>
                <a:spcPts val="8640"/>
              </a:lnSpc>
            </a:pPr>
            <a:r>
              <a:rPr lang="en-US" b="true" sz="7200">
                <a:solidFill>
                  <a:srgbClr val="3B332B"/>
                </a:solidFill>
                <a:latin typeface="Montserrat Bold"/>
                <a:ea typeface="Montserrat Bold"/>
                <a:cs typeface="Montserrat Bold"/>
                <a:sym typeface="Montserrat Bold"/>
              </a:rPr>
              <a:t>THE SHAME WE CARRY</a:t>
            </a:r>
          </a:p>
        </p:txBody>
      </p:sp>
      <p:sp>
        <p:nvSpPr>
          <p:cNvPr name="TextBox 3" id="3"/>
          <p:cNvSpPr txBox="true"/>
          <p:nvPr/>
        </p:nvSpPr>
        <p:spPr>
          <a:xfrm rot="0">
            <a:off x="1250156" y="4592119"/>
            <a:ext cx="15787688" cy="1455188"/>
          </a:xfrm>
          <a:prstGeom prst="rect">
            <a:avLst/>
          </a:prstGeom>
        </p:spPr>
        <p:txBody>
          <a:bodyPr anchor="t" rtlCol="false" tIns="0" lIns="0" bIns="0" rIns="0">
            <a:spAutoFit/>
          </a:bodyPr>
          <a:lstStyle/>
          <a:p>
            <a:pPr algn="ctr">
              <a:lnSpc>
                <a:spcPts val="6046"/>
              </a:lnSpc>
            </a:pPr>
            <a:r>
              <a:rPr lang="en-US" b="true" sz="3150">
                <a:solidFill>
                  <a:srgbClr val="5C5248"/>
                </a:solidFill>
                <a:latin typeface="Montserrat Medium"/>
                <a:ea typeface="Montserrat Medium"/>
                <a:cs typeface="Montserrat Medium"/>
                <a:sym typeface="Montserrat Medium"/>
              </a:rPr>
              <a:t>How Rigid Religious Sexual Ideologies Learned in Childhood Show Up in the Bedroom</a:t>
            </a:r>
          </a:p>
        </p:txBody>
      </p:sp>
      <p:sp>
        <p:nvSpPr>
          <p:cNvPr name="TextBox 4" id="4"/>
          <p:cNvSpPr txBox="true"/>
          <p:nvPr/>
        </p:nvSpPr>
        <p:spPr>
          <a:xfrm rot="0">
            <a:off x="1250156" y="8990670"/>
            <a:ext cx="9727887" cy="1034940"/>
          </a:xfrm>
          <a:prstGeom prst="rect">
            <a:avLst/>
          </a:prstGeom>
        </p:spPr>
        <p:txBody>
          <a:bodyPr anchor="t" rtlCol="false" tIns="0" lIns="0" bIns="0" rIns="0">
            <a:spAutoFit/>
          </a:bodyPr>
          <a:lstStyle/>
          <a:p>
            <a:pPr algn="l">
              <a:lnSpc>
                <a:spcPts val="2799"/>
              </a:lnSpc>
            </a:pPr>
            <a:r>
              <a:rPr lang="en-US" b="true" sz="1999">
                <a:solidFill>
                  <a:srgbClr val="5C5248"/>
                </a:solidFill>
                <a:latin typeface="Montserrat Semi-Bold"/>
                <a:ea typeface="Montserrat Semi-Bold"/>
                <a:cs typeface="Montserrat Semi-Bold"/>
                <a:sym typeface="Montserrat Semi-Bold"/>
              </a:rPr>
              <a:t>APRIL WEATHERLY  &amp; MARY SOMMER |  JULY 14, 2026</a:t>
            </a:r>
          </a:p>
          <a:p>
            <a:pPr algn="l">
              <a:lnSpc>
                <a:spcPts val="2799"/>
              </a:lnSpc>
            </a:pPr>
            <a:r>
              <a:rPr lang="en-US" b="true" sz="1999">
                <a:solidFill>
                  <a:srgbClr val="5C5248"/>
                </a:solidFill>
                <a:latin typeface="Montserrat Semi-Bold"/>
                <a:ea typeface="Montserrat Semi-Bold"/>
                <a:cs typeface="Montserrat Semi-Bold"/>
                <a:sym typeface="Montserrat Semi-Bold"/>
              </a:rPr>
              <a:t>MFT - 5380-01 THEORY AND INTERVENTION IN HUMAN SEXUALITY  |  </a:t>
            </a:r>
          </a:p>
          <a:p>
            <a:pPr algn="l">
              <a:lnSpc>
                <a:spcPts val="2799"/>
              </a:lnSpc>
            </a:pPr>
            <a:r>
              <a:rPr lang="en-US" b="true" sz="1999">
                <a:solidFill>
                  <a:srgbClr val="5C5248"/>
                </a:solidFill>
                <a:latin typeface="Montserrat Semi-Bold"/>
                <a:ea typeface="Montserrat Semi-Bold"/>
                <a:cs typeface="Montserrat Semi-Bold"/>
                <a:sym typeface="Montserrat Semi-Bold"/>
              </a:rPr>
              <a:t>KATIE HEIDEN-ROOTES, PH.D., LMFT, CERTIFIED SEX THERAPIST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1EA"/>
        </a:solidFill>
      </p:bgPr>
    </p:bg>
    <p:spTree>
      <p:nvGrpSpPr>
        <p:cNvPr id="1" name=""/>
        <p:cNvGrpSpPr/>
        <p:nvPr/>
      </p:nvGrpSpPr>
      <p:grpSpPr>
        <a:xfrm>
          <a:off x="0" y="0"/>
          <a:ext cx="0" cy="0"/>
          <a:chOff x="0" y="0"/>
          <a:chExt cx="0" cy="0"/>
        </a:xfrm>
      </p:grpSpPr>
      <p:sp>
        <p:nvSpPr>
          <p:cNvPr name="Freeform 2" id="2"/>
          <p:cNvSpPr/>
          <p:nvPr/>
        </p:nvSpPr>
        <p:spPr>
          <a:xfrm flipH="false" flipV="false" rot="0">
            <a:off x="9044376" y="153541"/>
            <a:ext cx="9190860" cy="9137703"/>
          </a:xfrm>
          <a:custGeom>
            <a:avLst/>
            <a:gdLst/>
            <a:ahLst/>
            <a:cxnLst/>
            <a:rect r="r" b="b" t="t" l="l"/>
            <a:pathLst>
              <a:path h="9137703" w="9190860">
                <a:moveTo>
                  <a:pt x="0" y="0"/>
                </a:moveTo>
                <a:lnTo>
                  <a:pt x="9190859" y="0"/>
                </a:lnTo>
                <a:lnTo>
                  <a:pt x="9190859" y="9137703"/>
                </a:lnTo>
                <a:lnTo>
                  <a:pt x="0" y="9137703"/>
                </a:lnTo>
                <a:lnTo>
                  <a:pt x="0" y="0"/>
                </a:lnTo>
                <a:close/>
              </a:path>
            </a:pathLst>
          </a:custGeom>
          <a:blipFill>
            <a:blip r:embed="rId2"/>
            <a:stretch>
              <a:fillRect l="-28869" t="0" r="-20076" b="0"/>
            </a:stretch>
          </a:blipFill>
        </p:spPr>
      </p:sp>
      <p:sp>
        <p:nvSpPr>
          <p:cNvPr name="TextBox 3" id="3"/>
          <p:cNvSpPr txBox="true"/>
          <p:nvPr/>
        </p:nvSpPr>
        <p:spPr>
          <a:xfrm rot="0">
            <a:off x="857250" y="1730054"/>
            <a:ext cx="7929562" cy="2862662"/>
          </a:xfrm>
          <a:prstGeom prst="rect">
            <a:avLst/>
          </a:prstGeom>
        </p:spPr>
        <p:txBody>
          <a:bodyPr anchor="t" rtlCol="false" tIns="0" lIns="0" bIns="0" rIns="0">
            <a:spAutoFit/>
          </a:bodyPr>
          <a:lstStyle/>
          <a:p>
            <a:pPr algn="l">
              <a:lnSpc>
                <a:spcPts val="3887"/>
              </a:lnSpc>
            </a:pPr>
            <a:r>
              <a:rPr lang="en-US" sz="2025">
                <a:solidFill>
                  <a:srgbClr val="5C5248"/>
                </a:solidFill>
                <a:latin typeface="Montserrat"/>
                <a:ea typeface="Montserrat"/>
                <a:cs typeface="Montserrat"/>
                <a:sym typeface="Montserrat"/>
              </a:rPr>
              <a:t>Many adults raised in sexually restrictive religious environments present with sexual difficulties misattributed to low desire, relational dysfunction, or individual pathology. This workshop examines how childhood purity culture messaging becomes internalized as sexual scripts that produce shame, guilt, and embodied distress.</a:t>
            </a:r>
          </a:p>
        </p:txBody>
      </p:sp>
      <p:sp>
        <p:nvSpPr>
          <p:cNvPr name="TextBox 4" id="4"/>
          <p:cNvSpPr txBox="true"/>
          <p:nvPr/>
        </p:nvSpPr>
        <p:spPr>
          <a:xfrm rot="0">
            <a:off x="857250" y="5046393"/>
            <a:ext cx="3099726" cy="266716"/>
          </a:xfrm>
          <a:prstGeom prst="rect">
            <a:avLst/>
          </a:prstGeom>
        </p:spPr>
        <p:txBody>
          <a:bodyPr anchor="t" rtlCol="false" tIns="0" lIns="0" bIns="0" rIns="0">
            <a:spAutoFit/>
          </a:bodyPr>
          <a:lstStyle/>
          <a:p>
            <a:pPr algn="l">
              <a:lnSpc>
                <a:spcPts val="2160"/>
              </a:lnSpc>
            </a:pPr>
            <a:r>
              <a:rPr lang="en-US" b="true" sz="1800">
                <a:solidFill>
                  <a:srgbClr val="5C5248"/>
                </a:solidFill>
                <a:latin typeface="Montserrat Bold"/>
                <a:ea typeface="Montserrat Bold"/>
                <a:cs typeface="Montserrat Bold"/>
                <a:sym typeface="Montserrat Bold"/>
              </a:rPr>
              <a:t>Learning Objectives:</a:t>
            </a:r>
          </a:p>
        </p:txBody>
      </p:sp>
      <p:sp>
        <p:nvSpPr>
          <p:cNvPr name="TextBox 5" id="5"/>
          <p:cNvSpPr txBox="true"/>
          <p:nvPr/>
        </p:nvSpPr>
        <p:spPr>
          <a:xfrm rot="0">
            <a:off x="1281112" y="5227368"/>
            <a:ext cx="7505700" cy="919677"/>
          </a:xfrm>
          <a:prstGeom prst="rect">
            <a:avLst/>
          </a:prstGeom>
        </p:spPr>
        <p:txBody>
          <a:bodyPr anchor="t" rtlCol="false" tIns="0" lIns="0" bIns="0" rIns="0">
            <a:spAutoFit/>
          </a:bodyPr>
          <a:lstStyle/>
          <a:p>
            <a:pPr algn="l">
              <a:lnSpc>
                <a:spcPts val="3887"/>
              </a:lnSpc>
            </a:pPr>
            <a:r>
              <a:rPr lang="en-US" sz="2025">
                <a:solidFill>
                  <a:srgbClr val="5C5248"/>
                </a:solidFill>
                <a:latin typeface="Montserrat"/>
                <a:ea typeface="Montserrat"/>
                <a:cs typeface="Montserrat"/>
                <a:sym typeface="Montserrat"/>
              </a:rPr>
              <a:t>Identify how religious sexual ideologies become internalized scripts.</a:t>
            </a:r>
          </a:p>
        </p:txBody>
      </p:sp>
      <p:sp>
        <p:nvSpPr>
          <p:cNvPr name="TextBox 6" id="6"/>
          <p:cNvSpPr txBox="true"/>
          <p:nvPr/>
        </p:nvSpPr>
        <p:spPr>
          <a:xfrm rot="0">
            <a:off x="1281112" y="6264545"/>
            <a:ext cx="7505700" cy="919677"/>
          </a:xfrm>
          <a:prstGeom prst="rect">
            <a:avLst/>
          </a:prstGeom>
        </p:spPr>
        <p:txBody>
          <a:bodyPr anchor="t" rtlCol="false" tIns="0" lIns="0" bIns="0" rIns="0">
            <a:spAutoFit/>
          </a:bodyPr>
          <a:lstStyle/>
          <a:p>
            <a:pPr algn="l">
              <a:lnSpc>
                <a:spcPts val="3887"/>
              </a:lnSpc>
            </a:pPr>
            <a:r>
              <a:rPr lang="en-US" sz="2025">
                <a:solidFill>
                  <a:srgbClr val="5C5248"/>
                </a:solidFill>
                <a:latin typeface="Montserrat"/>
                <a:ea typeface="Montserrat"/>
                <a:cs typeface="Montserrat"/>
                <a:sym typeface="Montserrat"/>
              </a:rPr>
              <a:t>Recognize clinical presentations linked to purity-culture shame.</a:t>
            </a:r>
          </a:p>
        </p:txBody>
      </p:sp>
      <p:sp>
        <p:nvSpPr>
          <p:cNvPr name="TextBox 7" id="7"/>
          <p:cNvSpPr txBox="true"/>
          <p:nvPr/>
        </p:nvSpPr>
        <p:spPr>
          <a:xfrm rot="0">
            <a:off x="1281112" y="7301732"/>
            <a:ext cx="7505700" cy="919677"/>
          </a:xfrm>
          <a:prstGeom prst="rect">
            <a:avLst/>
          </a:prstGeom>
        </p:spPr>
        <p:txBody>
          <a:bodyPr anchor="t" rtlCol="false" tIns="0" lIns="0" bIns="0" rIns="0">
            <a:spAutoFit/>
          </a:bodyPr>
          <a:lstStyle/>
          <a:p>
            <a:pPr algn="l">
              <a:lnSpc>
                <a:spcPts val="3887"/>
              </a:lnSpc>
            </a:pPr>
            <a:r>
              <a:rPr lang="en-US" sz="2025">
                <a:solidFill>
                  <a:srgbClr val="5C5248"/>
                </a:solidFill>
                <a:latin typeface="Montserrat"/>
                <a:ea typeface="Montserrat"/>
                <a:cs typeface="Montserrat"/>
                <a:sym typeface="Montserrat"/>
              </a:rPr>
              <a:t>Differentiate between healthy spiritual sexuality and fear-based messaging.</a:t>
            </a:r>
          </a:p>
        </p:txBody>
      </p:sp>
      <p:sp>
        <p:nvSpPr>
          <p:cNvPr name="TextBox 8" id="8"/>
          <p:cNvSpPr txBox="true"/>
          <p:nvPr/>
        </p:nvSpPr>
        <p:spPr>
          <a:xfrm rot="0">
            <a:off x="1281112" y="8343681"/>
            <a:ext cx="7505700" cy="919677"/>
          </a:xfrm>
          <a:prstGeom prst="rect">
            <a:avLst/>
          </a:prstGeom>
        </p:spPr>
        <p:txBody>
          <a:bodyPr anchor="t" rtlCol="false" tIns="0" lIns="0" bIns="0" rIns="0">
            <a:spAutoFit/>
          </a:bodyPr>
          <a:lstStyle/>
          <a:p>
            <a:pPr algn="l">
              <a:lnSpc>
                <a:spcPts val="3887"/>
              </a:lnSpc>
            </a:pPr>
            <a:r>
              <a:rPr lang="en-US" sz="2025">
                <a:solidFill>
                  <a:srgbClr val="5C5248"/>
                </a:solidFill>
                <a:latin typeface="Montserrat"/>
                <a:ea typeface="Montserrat"/>
                <a:cs typeface="Montserrat"/>
                <a:sym typeface="Montserrat"/>
              </a:rPr>
              <a:t>Apply trauma-informed assessment and intervention strategies.</a:t>
            </a:r>
          </a:p>
        </p:txBody>
      </p:sp>
      <p:sp>
        <p:nvSpPr>
          <p:cNvPr name="TextBox 9" id="9"/>
          <p:cNvSpPr txBox="true"/>
          <p:nvPr/>
        </p:nvSpPr>
        <p:spPr>
          <a:xfrm rot="0">
            <a:off x="857250" y="777554"/>
            <a:ext cx="7859862" cy="685784"/>
          </a:xfrm>
          <a:prstGeom prst="rect">
            <a:avLst/>
          </a:prstGeom>
        </p:spPr>
        <p:txBody>
          <a:bodyPr anchor="t" rtlCol="false" tIns="0" lIns="0" bIns="0" rIns="0">
            <a:spAutoFit/>
          </a:bodyPr>
          <a:lstStyle/>
          <a:p>
            <a:pPr algn="l">
              <a:lnSpc>
                <a:spcPts val="5400"/>
              </a:lnSpc>
            </a:pPr>
            <a:r>
              <a:rPr lang="en-US" b="true" sz="4500">
                <a:solidFill>
                  <a:srgbClr val="8C7355"/>
                </a:solidFill>
                <a:latin typeface="Montserrat Bold"/>
                <a:ea typeface="Montserrat Bold"/>
                <a:cs typeface="Montserrat Bold"/>
                <a:sym typeface="Montserrat Bold"/>
              </a:rPr>
              <a:t>OVERVIEW &amp; OBJECTIVES</a:t>
            </a:r>
          </a:p>
        </p:txBody>
      </p:sp>
      <p:sp>
        <p:nvSpPr>
          <p:cNvPr name="Freeform 10" id="10"/>
          <p:cNvSpPr/>
          <p:nvPr/>
        </p:nvSpPr>
        <p:spPr>
          <a:xfrm flipH="false" flipV="false" rot="0">
            <a:off x="886288" y="5394556"/>
            <a:ext cx="284823" cy="163417"/>
          </a:xfrm>
          <a:custGeom>
            <a:avLst/>
            <a:gdLst/>
            <a:ahLst/>
            <a:cxnLst/>
            <a:rect r="r" b="b" t="t" l="l"/>
            <a:pathLst>
              <a:path h="163417" w="284823">
                <a:moveTo>
                  <a:pt x="0" y="0"/>
                </a:moveTo>
                <a:lnTo>
                  <a:pt x="284824" y="0"/>
                </a:lnTo>
                <a:lnTo>
                  <a:pt x="284824" y="163417"/>
                </a:lnTo>
                <a:lnTo>
                  <a:pt x="0" y="1634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886288" y="7505433"/>
            <a:ext cx="284823" cy="163417"/>
          </a:xfrm>
          <a:custGeom>
            <a:avLst/>
            <a:gdLst/>
            <a:ahLst/>
            <a:cxnLst/>
            <a:rect r="r" b="b" t="t" l="l"/>
            <a:pathLst>
              <a:path h="163417" w="284823">
                <a:moveTo>
                  <a:pt x="0" y="0"/>
                </a:moveTo>
                <a:lnTo>
                  <a:pt x="284824" y="0"/>
                </a:lnTo>
                <a:lnTo>
                  <a:pt x="284824" y="163418"/>
                </a:lnTo>
                <a:lnTo>
                  <a:pt x="0" y="1634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886288" y="8562756"/>
            <a:ext cx="284823" cy="163417"/>
          </a:xfrm>
          <a:custGeom>
            <a:avLst/>
            <a:gdLst/>
            <a:ahLst/>
            <a:cxnLst/>
            <a:rect r="r" b="b" t="t" l="l"/>
            <a:pathLst>
              <a:path h="163417" w="284823">
                <a:moveTo>
                  <a:pt x="0" y="0"/>
                </a:moveTo>
                <a:lnTo>
                  <a:pt x="284824" y="0"/>
                </a:lnTo>
                <a:lnTo>
                  <a:pt x="284824" y="163417"/>
                </a:lnTo>
                <a:lnTo>
                  <a:pt x="0" y="1634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886288" y="6456191"/>
            <a:ext cx="284823" cy="163417"/>
          </a:xfrm>
          <a:custGeom>
            <a:avLst/>
            <a:gdLst/>
            <a:ahLst/>
            <a:cxnLst/>
            <a:rect r="r" b="b" t="t" l="l"/>
            <a:pathLst>
              <a:path h="163417" w="284823">
                <a:moveTo>
                  <a:pt x="0" y="0"/>
                </a:moveTo>
                <a:lnTo>
                  <a:pt x="284824" y="0"/>
                </a:lnTo>
                <a:lnTo>
                  <a:pt x="284824" y="163417"/>
                </a:lnTo>
                <a:lnTo>
                  <a:pt x="0" y="1634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1EA"/>
        </a:solidFill>
      </p:bgPr>
    </p:bg>
    <p:spTree>
      <p:nvGrpSpPr>
        <p:cNvPr id="1" name=""/>
        <p:cNvGrpSpPr/>
        <p:nvPr/>
      </p:nvGrpSpPr>
      <p:grpSpPr>
        <a:xfrm>
          <a:off x="0" y="0"/>
          <a:ext cx="0" cy="0"/>
          <a:chOff x="0" y="0"/>
          <a:chExt cx="0" cy="0"/>
        </a:xfrm>
      </p:grpSpPr>
      <p:grpSp>
        <p:nvGrpSpPr>
          <p:cNvPr name="Group 2" id="2"/>
          <p:cNvGrpSpPr/>
          <p:nvPr/>
        </p:nvGrpSpPr>
        <p:grpSpPr>
          <a:xfrm rot="0">
            <a:off x="857250" y="2128838"/>
            <a:ext cx="5238826" cy="5503364"/>
            <a:chOff x="0" y="0"/>
            <a:chExt cx="6985102" cy="7337819"/>
          </a:xfrm>
        </p:grpSpPr>
        <p:sp>
          <p:nvSpPr>
            <p:cNvPr name="Freeform 3" id="3" descr="image.png"/>
            <p:cNvSpPr/>
            <p:nvPr/>
          </p:nvSpPr>
          <p:spPr>
            <a:xfrm flipH="false" flipV="false" rot="0">
              <a:off x="0" y="0"/>
              <a:ext cx="6985127" cy="7337806"/>
            </a:xfrm>
            <a:custGeom>
              <a:avLst/>
              <a:gdLst/>
              <a:ahLst/>
              <a:cxnLst/>
              <a:rect r="r" b="b" t="t" l="l"/>
              <a:pathLst>
                <a:path h="7337806" w="6985127">
                  <a:moveTo>
                    <a:pt x="0" y="0"/>
                  </a:moveTo>
                  <a:lnTo>
                    <a:pt x="6985127" y="0"/>
                  </a:lnTo>
                  <a:lnTo>
                    <a:pt x="6985127" y="7337806"/>
                  </a:lnTo>
                  <a:lnTo>
                    <a:pt x="0" y="7337806"/>
                  </a:lnTo>
                  <a:lnTo>
                    <a:pt x="0" y="0"/>
                  </a:lnTo>
                  <a:close/>
                </a:path>
              </a:pathLst>
            </a:custGeom>
            <a:blipFill>
              <a:blip r:embed="rId2"/>
              <a:stretch>
                <a:fillRect l="0" t="0" r="0" b="-121"/>
              </a:stretch>
            </a:blipFill>
          </p:spPr>
        </p:sp>
      </p:grpSp>
      <p:grpSp>
        <p:nvGrpSpPr>
          <p:cNvPr name="Group 4" id="4"/>
          <p:cNvGrpSpPr/>
          <p:nvPr/>
        </p:nvGrpSpPr>
        <p:grpSpPr>
          <a:xfrm rot="0">
            <a:off x="6524701" y="2128838"/>
            <a:ext cx="5238826" cy="5503364"/>
            <a:chOff x="0" y="0"/>
            <a:chExt cx="6985102" cy="7337819"/>
          </a:xfrm>
        </p:grpSpPr>
        <p:sp>
          <p:nvSpPr>
            <p:cNvPr name="Freeform 5" id="5" descr="image.png"/>
            <p:cNvSpPr/>
            <p:nvPr/>
          </p:nvSpPr>
          <p:spPr>
            <a:xfrm flipH="false" flipV="false" rot="0">
              <a:off x="0" y="0"/>
              <a:ext cx="6985127" cy="7337806"/>
            </a:xfrm>
            <a:custGeom>
              <a:avLst/>
              <a:gdLst/>
              <a:ahLst/>
              <a:cxnLst/>
              <a:rect r="r" b="b" t="t" l="l"/>
              <a:pathLst>
                <a:path h="7337806" w="6985127">
                  <a:moveTo>
                    <a:pt x="0" y="0"/>
                  </a:moveTo>
                  <a:lnTo>
                    <a:pt x="6985127" y="0"/>
                  </a:lnTo>
                  <a:lnTo>
                    <a:pt x="6985127" y="7337806"/>
                  </a:lnTo>
                  <a:lnTo>
                    <a:pt x="0" y="7337806"/>
                  </a:lnTo>
                  <a:lnTo>
                    <a:pt x="0" y="0"/>
                  </a:lnTo>
                  <a:close/>
                </a:path>
              </a:pathLst>
            </a:custGeom>
            <a:blipFill>
              <a:blip r:embed="rId3"/>
              <a:stretch>
                <a:fillRect l="0" t="0" r="-150" b="0"/>
              </a:stretch>
            </a:blipFill>
          </p:spPr>
        </p:sp>
      </p:grpSp>
      <p:grpSp>
        <p:nvGrpSpPr>
          <p:cNvPr name="Group 6" id="6"/>
          <p:cNvGrpSpPr/>
          <p:nvPr/>
        </p:nvGrpSpPr>
        <p:grpSpPr>
          <a:xfrm rot="0">
            <a:off x="12192152" y="2128838"/>
            <a:ext cx="5238826" cy="5503364"/>
            <a:chOff x="0" y="0"/>
            <a:chExt cx="6985102" cy="7337819"/>
          </a:xfrm>
        </p:grpSpPr>
        <p:sp>
          <p:nvSpPr>
            <p:cNvPr name="Freeform 7" id="7" descr="image.png"/>
            <p:cNvSpPr/>
            <p:nvPr/>
          </p:nvSpPr>
          <p:spPr>
            <a:xfrm flipH="false" flipV="false" rot="0">
              <a:off x="0" y="0"/>
              <a:ext cx="6985127" cy="7337806"/>
            </a:xfrm>
            <a:custGeom>
              <a:avLst/>
              <a:gdLst/>
              <a:ahLst/>
              <a:cxnLst/>
              <a:rect r="r" b="b" t="t" l="l"/>
              <a:pathLst>
                <a:path h="7337806" w="6985127">
                  <a:moveTo>
                    <a:pt x="0" y="0"/>
                  </a:moveTo>
                  <a:lnTo>
                    <a:pt x="6985127" y="0"/>
                  </a:lnTo>
                  <a:lnTo>
                    <a:pt x="6985127" y="7337806"/>
                  </a:lnTo>
                  <a:lnTo>
                    <a:pt x="0" y="7337806"/>
                  </a:lnTo>
                  <a:lnTo>
                    <a:pt x="0" y="0"/>
                  </a:lnTo>
                  <a:close/>
                </a:path>
              </a:pathLst>
            </a:custGeom>
            <a:blipFill>
              <a:blip r:embed="rId4"/>
              <a:stretch>
                <a:fillRect l="0" t="0" r="-150" b="0"/>
              </a:stretch>
            </a:blipFill>
          </p:spPr>
        </p:sp>
      </p:grpSp>
      <p:sp>
        <p:nvSpPr>
          <p:cNvPr name="TextBox 8" id="8"/>
          <p:cNvSpPr txBox="true"/>
          <p:nvPr/>
        </p:nvSpPr>
        <p:spPr>
          <a:xfrm rot="0">
            <a:off x="2002051" y="4000500"/>
            <a:ext cx="2949006" cy="476250"/>
          </a:xfrm>
          <a:prstGeom prst="rect">
            <a:avLst/>
          </a:prstGeom>
        </p:spPr>
        <p:txBody>
          <a:bodyPr anchor="t" rtlCol="false" tIns="0" lIns="0" bIns="0" rIns="0">
            <a:spAutoFit/>
          </a:bodyPr>
          <a:lstStyle/>
          <a:p>
            <a:pPr algn="ctr">
              <a:lnSpc>
                <a:spcPts val="3779"/>
              </a:lnSpc>
            </a:pPr>
            <a:r>
              <a:rPr lang="en-US" b="true" sz="3150">
                <a:solidFill>
                  <a:srgbClr val="6D5B45"/>
                </a:solidFill>
                <a:latin typeface="Montserrat Bold"/>
                <a:ea typeface="Montserrat Bold"/>
                <a:cs typeface="Montserrat Bold"/>
                <a:sym typeface="Montserrat Bold"/>
              </a:rPr>
              <a:t>Purity Culture</a:t>
            </a:r>
          </a:p>
        </p:txBody>
      </p:sp>
      <p:sp>
        <p:nvSpPr>
          <p:cNvPr name="TextBox 9" id="9"/>
          <p:cNvSpPr txBox="true"/>
          <p:nvPr/>
        </p:nvSpPr>
        <p:spPr>
          <a:xfrm rot="0">
            <a:off x="1300162" y="4557713"/>
            <a:ext cx="4353001" cy="2200056"/>
          </a:xfrm>
          <a:prstGeom prst="rect">
            <a:avLst/>
          </a:prstGeom>
        </p:spPr>
        <p:txBody>
          <a:bodyPr anchor="t" rtlCol="false" tIns="0" lIns="0" bIns="0" rIns="0">
            <a:spAutoFit/>
          </a:bodyPr>
          <a:lstStyle/>
          <a:p>
            <a:pPr algn="ctr">
              <a:lnSpc>
                <a:spcPts val="3887"/>
              </a:lnSpc>
            </a:pPr>
            <a:r>
              <a:rPr lang="en-US" sz="2025">
                <a:solidFill>
                  <a:srgbClr val="5C5248"/>
                </a:solidFill>
                <a:latin typeface="Open Sans"/>
                <a:ea typeface="Open Sans"/>
                <a:cs typeface="Open Sans"/>
                <a:sym typeface="Open Sans"/>
              </a:rPr>
              <a:t>A framework emphasizing sexual abstinence as moral identity, often using fear, shame, and gender-role rigidity to enforce compliance and self-surveillance.</a:t>
            </a:r>
          </a:p>
        </p:txBody>
      </p:sp>
      <p:sp>
        <p:nvSpPr>
          <p:cNvPr name="TextBox 10" id="10"/>
          <p:cNvSpPr txBox="true"/>
          <p:nvPr/>
        </p:nvSpPr>
        <p:spPr>
          <a:xfrm rot="0">
            <a:off x="7670096" y="4000500"/>
            <a:ext cx="2947808" cy="476250"/>
          </a:xfrm>
          <a:prstGeom prst="rect">
            <a:avLst/>
          </a:prstGeom>
        </p:spPr>
        <p:txBody>
          <a:bodyPr anchor="t" rtlCol="false" tIns="0" lIns="0" bIns="0" rIns="0">
            <a:spAutoFit/>
          </a:bodyPr>
          <a:lstStyle/>
          <a:p>
            <a:pPr algn="ctr">
              <a:lnSpc>
                <a:spcPts val="3779"/>
              </a:lnSpc>
            </a:pPr>
            <a:r>
              <a:rPr lang="en-US" b="true" sz="3150">
                <a:solidFill>
                  <a:srgbClr val="6D5B45"/>
                </a:solidFill>
                <a:latin typeface="Montserrat Bold"/>
                <a:ea typeface="Montserrat Bold"/>
                <a:cs typeface="Montserrat Bold"/>
                <a:sym typeface="Montserrat Bold"/>
              </a:rPr>
              <a:t>Sexual Scripts</a:t>
            </a:r>
          </a:p>
        </p:txBody>
      </p:sp>
      <p:sp>
        <p:nvSpPr>
          <p:cNvPr name="TextBox 11" id="11"/>
          <p:cNvSpPr txBox="true"/>
          <p:nvPr/>
        </p:nvSpPr>
        <p:spPr>
          <a:xfrm rot="0">
            <a:off x="6967614" y="4557713"/>
            <a:ext cx="4353001" cy="2200056"/>
          </a:xfrm>
          <a:prstGeom prst="rect">
            <a:avLst/>
          </a:prstGeom>
        </p:spPr>
        <p:txBody>
          <a:bodyPr anchor="t" rtlCol="false" tIns="0" lIns="0" bIns="0" rIns="0">
            <a:spAutoFit/>
          </a:bodyPr>
          <a:lstStyle/>
          <a:p>
            <a:pPr algn="ctr">
              <a:lnSpc>
                <a:spcPts val="3887"/>
              </a:lnSpc>
            </a:pPr>
            <a:r>
              <a:rPr lang="en-US" sz="2025">
                <a:solidFill>
                  <a:srgbClr val="5C5248"/>
                </a:solidFill>
                <a:latin typeface="Open Sans"/>
                <a:ea typeface="Open Sans"/>
                <a:cs typeface="Open Sans"/>
                <a:sym typeface="Open Sans"/>
              </a:rPr>
              <a:t>Cognitive schemas about how sexual encounters should unfold, shaped heavily by early socialization, authority figures, and religious teachings.</a:t>
            </a:r>
          </a:p>
        </p:txBody>
      </p:sp>
      <p:sp>
        <p:nvSpPr>
          <p:cNvPr name="TextBox 12" id="12"/>
          <p:cNvSpPr txBox="true"/>
          <p:nvPr/>
        </p:nvSpPr>
        <p:spPr>
          <a:xfrm rot="0">
            <a:off x="12526232" y="4000500"/>
            <a:ext cx="4570647" cy="952500"/>
          </a:xfrm>
          <a:prstGeom prst="rect">
            <a:avLst/>
          </a:prstGeom>
        </p:spPr>
        <p:txBody>
          <a:bodyPr anchor="t" rtlCol="false" tIns="0" lIns="0" bIns="0" rIns="0">
            <a:spAutoFit/>
          </a:bodyPr>
          <a:lstStyle/>
          <a:p>
            <a:pPr algn="ctr">
              <a:lnSpc>
                <a:spcPts val="3779"/>
              </a:lnSpc>
            </a:pPr>
            <a:r>
              <a:rPr lang="en-US" b="true" sz="3150">
                <a:solidFill>
                  <a:srgbClr val="6D5B45"/>
                </a:solidFill>
                <a:latin typeface="Montserrat Bold"/>
                <a:ea typeface="Montserrat Bold"/>
                <a:cs typeface="Montserrat Bold"/>
                <a:sym typeface="Montserrat Bold"/>
              </a:rPr>
              <a:t>Religious Sexual Shame</a:t>
            </a:r>
          </a:p>
        </p:txBody>
      </p:sp>
      <p:sp>
        <p:nvSpPr>
          <p:cNvPr name="TextBox 13" id="13"/>
          <p:cNvSpPr txBox="true"/>
          <p:nvPr/>
        </p:nvSpPr>
        <p:spPr>
          <a:xfrm rot="0">
            <a:off x="12635065" y="5043487"/>
            <a:ext cx="4353001" cy="1788614"/>
          </a:xfrm>
          <a:prstGeom prst="rect">
            <a:avLst/>
          </a:prstGeom>
        </p:spPr>
        <p:txBody>
          <a:bodyPr anchor="t" rtlCol="false" tIns="0" lIns="0" bIns="0" rIns="0">
            <a:spAutoFit/>
          </a:bodyPr>
          <a:lstStyle/>
          <a:p>
            <a:pPr algn="ctr">
              <a:lnSpc>
                <a:spcPts val="3887"/>
              </a:lnSpc>
            </a:pPr>
            <a:r>
              <a:rPr lang="en-US" sz="2025">
                <a:solidFill>
                  <a:srgbClr val="5C5248"/>
                </a:solidFill>
                <a:latin typeface="Open Sans"/>
                <a:ea typeface="Open Sans"/>
                <a:cs typeface="Open Sans"/>
                <a:sym typeface="Open Sans"/>
              </a:rPr>
              <a:t>The deeply internalized belief that sexual desire, arousal, or behavior is inherently morally contaminating and indicative of spiritual failure.</a:t>
            </a:r>
          </a:p>
        </p:txBody>
      </p:sp>
      <p:grpSp>
        <p:nvGrpSpPr>
          <p:cNvPr name="Group 14" id="14"/>
          <p:cNvGrpSpPr/>
          <p:nvPr/>
        </p:nvGrpSpPr>
        <p:grpSpPr>
          <a:xfrm rot="0">
            <a:off x="3047924" y="2843212"/>
            <a:ext cx="857250" cy="685800"/>
            <a:chOff x="0" y="0"/>
            <a:chExt cx="1143000" cy="914400"/>
          </a:xfrm>
        </p:grpSpPr>
        <p:sp>
          <p:nvSpPr>
            <p:cNvPr name="Freeform 15" id="15" descr="image.png"/>
            <p:cNvSpPr/>
            <p:nvPr/>
          </p:nvSpPr>
          <p:spPr>
            <a:xfrm flipH="false" flipV="false" rot="0">
              <a:off x="0" y="0"/>
              <a:ext cx="1143000" cy="914400"/>
            </a:xfrm>
            <a:custGeom>
              <a:avLst/>
              <a:gdLst/>
              <a:ahLst/>
              <a:cxnLst/>
              <a:rect r="r" b="b" t="t" l="l"/>
              <a:pathLst>
                <a:path h="914400" w="1143000">
                  <a:moveTo>
                    <a:pt x="0" y="0"/>
                  </a:moveTo>
                  <a:lnTo>
                    <a:pt x="1143000" y="0"/>
                  </a:lnTo>
                  <a:lnTo>
                    <a:pt x="1143000" y="914400"/>
                  </a:lnTo>
                  <a:lnTo>
                    <a:pt x="0" y="914400"/>
                  </a:lnTo>
                  <a:lnTo>
                    <a:pt x="0" y="0"/>
                  </a:lnTo>
                  <a:close/>
                </a:path>
              </a:pathLst>
            </a:custGeom>
            <a:blipFill>
              <a:blip r:embed="rId5"/>
              <a:stretch>
                <a:fillRect l="0" t="0" r="-1666" b="0"/>
              </a:stretch>
            </a:blipFill>
          </p:spPr>
        </p:sp>
      </p:grpSp>
      <p:grpSp>
        <p:nvGrpSpPr>
          <p:cNvPr name="Group 16" id="16"/>
          <p:cNvGrpSpPr/>
          <p:nvPr/>
        </p:nvGrpSpPr>
        <p:grpSpPr>
          <a:xfrm rot="0">
            <a:off x="8758238" y="2843212"/>
            <a:ext cx="771525" cy="685800"/>
            <a:chOff x="0" y="0"/>
            <a:chExt cx="1028700" cy="914400"/>
          </a:xfrm>
        </p:grpSpPr>
        <p:sp>
          <p:nvSpPr>
            <p:cNvPr name="Freeform 17" id="17" descr="image.png"/>
            <p:cNvSpPr/>
            <p:nvPr/>
          </p:nvSpPr>
          <p:spPr>
            <a:xfrm flipH="false" flipV="false" rot="0">
              <a:off x="0" y="0"/>
              <a:ext cx="1028700" cy="914400"/>
            </a:xfrm>
            <a:custGeom>
              <a:avLst/>
              <a:gdLst/>
              <a:ahLst/>
              <a:cxnLst/>
              <a:rect r="r" b="b" t="t" l="l"/>
              <a:pathLst>
                <a:path h="914400" w="1028700">
                  <a:moveTo>
                    <a:pt x="0" y="0"/>
                  </a:moveTo>
                  <a:lnTo>
                    <a:pt x="1028700" y="0"/>
                  </a:lnTo>
                  <a:lnTo>
                    <a:pt x="1028700" y="914400"/>
                  </a:lnTo>
                  <a:lnTo>
                    <a:pt x="0" y="914400"/>
                  </a:lnTo>
                  <a:lnTo>
                    <a:pt x="0" y="0"/>
                  </a:lnTo>
                  <a:close/>
                </a:path>
              </a:pathLst>
            </a:custGeom>
            <a:blipFill>
              <a:blip r:embed="rId6"/>
              <a:stretch>
                <a:fillRect l="0" t="0" r="-1851" b="0"/>
              </a:stretch>
            </a:blipFill>
          </p:spPr>
        </p:sp>
      </p:grpSp>
      <p:grpSp>
        <p:nvGrpSpPr>
          <p:cNvPr name="Group 18" id="18"/>
          <p:cNvGrpSpPr/>
          <p:nvPr/>
        </p:nvGrpSpPr>
        <p:grpSpPr>
          <a:xfrm rot="0">
            <a:off x="14468551" y="2843212"/>
            <a:ext cx="685800" cy="685800"/>
            <a:chOff x="0" y="0"/>
            <a:chExt cx="914400" cy="914400"/>
          </a:xfrm>
        </p:grpSpPr>
        <p:sp>
          <p:nvSpPr>
            <p:cNvPr name="Freeform 19" id="19" descr="image.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7"/>
              <a:stretch>
                <a:fillRect l="0" t="0" r="-2083" b="0"/>
              </a:stretch>
            </a:blipFill>
          </p:spPr>
        </p:sp>
      </p:grpSp>
      <p:sp>
        <p:nvSpPr>
          <p:cNvPr name="TextBox 20" id="20"/>
          <p:cNvSpPr txBox="true"/>
          <p:nvPr/>
        </p:nvSpPr>
        <p:spPr>
          <a:xfrm rot="0">
            <a:off x="857250" y="857250"/>
            <a:ext cx="5261290" cy="685770"/>
          </a:xfrm>
          <a:prstGeom prst="rect">
            <a:avLst/>
          </a:prstGeom>
        </p:spPr>
        <p:txBody>
          <a:bodyPr anchor="t" rtlCol="false" tIns="0" lIns="0" bIns="0" rIns="0">
            <a:spAutoFit/>
          </a:bodyPr>
          <a:lstStyle/>
          <a:p>
            <a:pPr algn="l">
              <a:lnSpc>
                <a:spcPts val="5400"/>
              </a:lnSpc>
            </a:pPr>
            <a:r>
              <a:rPr lang="en-US" b="true" sz="4500">
                <a:solidFill>
                  <a:srgbClr val="8C7355"/>
                </a:solidFill>
                <a:latin typeface="Montserrat Bold"/>
                <a:ea typeface="Montserrat Bold"/>
                <a:cs typeface="Montserrat Bold"/>
                <a:sym typeface="Montserrat Bold"/>
              </a:rPr>
              <a:t>KEY DEFINITIONS</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4F1EA"/>
        </a:solidFill>
      </p:bgPr>
    </p:bg>
    <p:spTree>
      <p:nvGrpSpPr>
        <p:cNvPr id="1" name=""/>
        <p:cNvGrpSpPr/>
        <p:nvPr/>
      </p:nvGrpSpPr>
      <p:grpSpPr>
        <a:xfrm>
          <a:off x="0" y="0"/>
          <a:ext cx="0" cy="0"/>
          <a:chOff x="0" y="0"/>
          <a:chExt cx="0" cy="0"/>
        </a:xfrm>
      </p:grpSpPr>
      <p:grpSp>
        <p:nvGrpSpPr>
          <p:cNvPr name="Group 2" id="2"/>
          <p:cNvGrpSpPr/>
          <p:nvPr/>
        </p:nvGrpSpPr>
        <p:grpSpPr>
          <a:xfrm rot="0">
            <a:off x="734873" y="2998952"/>
            <a:ext cx="16818254" cy="4289095"/>
            <a:chOff x="0" y="0"/>
            <a:chExt cx="22424339" cy="5718794"/>
          </a:xfrm>
        </p:grpSpPr>
        <p:grpSp>
          <p:nvGrpSpPr>
            <p:cNvPr name="Group 3" id="3"/>
            <p:cNvGrpSpPr/>
            <p:nvPr/>
          </p:nvGrpSpPr>
          <p:grpSpPr>
            <a:xfrm rot="0">
              <a:off x="49721" y="2932746"/>
              <a:ext cx="22374619" cy="77154"/>
              <a:chOff x="0" y="0"/>
              <a:chExt cx="22098000" cy="76200"/>
            </a:xfrm>
          </p:grpSpPr>
          <p:sp>
            <p:nvSpPr>
              <p:cNvPr name="Freeform 4" id="4"/>
              <p:cNvSpPr/>
              <p:nvPr/>
            </p:nvSpPr>
            <p:spPr>
              <a:xfrm flipH="false" flipV="false" rot="0">
                <a:off x="0" y="0"/>
                <a:ext cx="22098000" cy="76200"/>
              </a:xfrm>
              <a:custGeom>
                <a:avLst/>
                <a:gdLst/>
                <a:ahLst/>
                <a:cxnLst/>
                <a:rect r="r" b="b" t="t" l="l"/>
                <a:pathLst>
                  <a:path h="76200" w="22098000">
                    <a:moveTo>
                      <a:pt x="0" y="0"/>
                    </a:moveTo>
                    <a:lnTo>
                      <a:pt x="22098000" y="0"/>
                    </a:lnTo>
                    <a:lnTo>
                      <a:pt x="22098000" y="76200"/>
                    </a:lnTo>
                    <a:lnTo>
                      <a:pt x="0" y="76200"/>
                    </a:lnTo>
                    <a:close/>
                  </a:path>
                </a:pathLst>
              </a:custGeom>
              <a:solidFill>
                <a:srgbClr val="D1C8B8"/>
              </a:solidFill>
            </p:spPr>
          </p:sp>
        </p:grpSp>
        <p:sp>
          <p:nvSpPr>
            <p:cNvPr name="TextBox 5" id="5"/>
            <p:cNvSpPr txBox="true"/>
            <p:nvPr/>
          </p:nvSpPr>
          <p:spPr>
            <a:xfrm rot="0">
              <a:off x="1059568" y="3533775"/>
              <a:ext cx="2135365" cy="466714"/>
            </a:xfrm>
            <a:prstGeom prst="rect">
              <a:avLst/>
            </a:prstGeom>
          </p:spPr>
          <p:txBody>
            <a:bodyPr anchor="t" rtlCol="false" tIns="0" lIns="0" bIns="0" rIns="0">
              <a:spAutoFit/>
            </a:bodyPr>
            <a:lstStyle/>
            <a:p>
              <a:pPr algn="ctr">
                <a:lnSpc>
                  <a:spcPts val="2700"/>
                </a:lnSpc>
              </a:pPr>
              <a:r>
                <a:rPr lang="en-US" b="true" sz="2250">
                  <a:solidFill>
                    <a:srgbClr val="8C7355"/>
                  </a:solidFill>
                  <a:latin typeface="Montserrat Medium"/>
                  <a:ea typeface="Montserrat Medium"/>
                  <a:cs typeface="Montserrat Medium"/>
                  <a:sym typeface="Montserrat Medium"/>
                </a:rPr>
                <a:t>1. Exposure</a:t>
              </a:r>
            </a:p>
          </p:txBody>
        </p:sp>
        <p:sp>
          <p:nvSpPr>
            <p:cNvPr name="TextBox 6" id="6"/>
            <p:cNvSpPr txBox="true"/>
            <p:nvPr/>
          </p:nvSpPr>
          <p:spPr>
            <a:xfrm rot="0">
              <a:off x="0" y="4171950"/>
              <a:ext cx="4254500" cy="1546844"/>
            </a:xfrm>
            <a:prstGeom prst="rect">
              <a:avLst/>
            </a:prstGeom>
          </p:spPr>
          <p:txBody>
            <a:bodyPr anchor="t" rtlCol="false" tIns="0" lIns="0" bIns="0" rIns="0">
              <a:spAutoFit/>
            </a:bodyPr>
            <a:lstStyle/>
            <a:p>
              <a:pPr algn="ctr">
                <a:lnSpc>
                  <a:spcPts val="3240"/>
                </a:lnSpc>
              </a:pPr>
              <a:r>
                <a:rPr lang="en-US" sz="1687">
                  <a:solidFill>
                    <a:srgbClr val="5C5248"/>
                  </a:solidFill>
                  <a:latin typeface="Montserrat"/>
                  <a:ea typeface="Montserrat"/>
                  <a:cs typeface="Montserrat"/>
                  <a:sym typeface="Montserrat"/>
                </a:rPr>
                <a:t>Childhood teachings frame sex as dangerous, dirty, or strictly utilitarian.</a:t>
              </a:r>
            </a:p>
          </p:txBody>
        </p:sp>
        <p:sp>
          <p:nvSpPr>
            <p:cNvPr name="TextBox 7" id="7"/>
            <p:cNvSpPr txBox="true"/>
            <p:nvPr/>
          </p:nvSpPr>
          <p:spPr>
            <a:xfrm rot="0">
              <a:off x="5045406" y="-9525"/>
              <a:ext cx="3223742" cy="466714"/>
            </a:xfrm>
            <a:prstGeom prst="rect">
              <a:avLst/>
            </a:prstGeom>
          </p:spPr>
          <p:txBody>
            <a:bodyPr anchor="t" rtlCol="false" tIns="0" lIns="0" bIns="0" rIns="0">
              <a:spAutoFit/>
            </a:bodyPr>
            <a:lstStyle/>
            <a:p>
              <a:pPr algn="ctr">
                <a:lnSpc>
                  <a:spcPts val="2700"/>
                </a:lnSpc>
              </a:pPr>
              <a:r>
                <a:rPr lang="en-US" b="true" sz="2250">
                  <a:solidFill>
                    <a:srgbClr val="8C7355"/>
                  </a:solidFill>
                  <a:latin typeface="Montserrat Medium"/>
                  <a:ea typeface="Montserrat Medium"/>
                  <a:cs typeface="Montserrat Medium"/>
                  <a:sym typeface="Montserrat Medium"/>
                </a:rPr>
                <a:t>2. Internalization</a:t>
              </a:r>
            </a:p>
          </p:txBody>
        </p:sp>
        <p:sp>
          <p:nvSpPr>
            <p:cNvPr name="TextBox 8" id="8"/>
            <p:cNvSpPr txBox="true"/>
            <p:nvPr/>
          </p:nvSpPr>
          <p:spPr>
            <a:xfrm rot="0">
              <a:off x="4530026" y="628650"/>
              <a:ext cx="4254500" cy="1546844"/>
            </a:xfrm>
            <a:prstGeom prst="rect">
              <a:avLst/>
            </a:prstGeom>
          </p:spPr>
          <p:txBody>
            <a:bodyPr anchor="t" rtlCol="false" tIns="0" lIns="0" bIns="0" rIns="0">
              <a:spAutoFit/>
            </a:bodyPr>
            <a:lstStyle/>
            <a:p>
              <a:pPr algn="ctr">
                <a:lnSpc>
                  <a:spcPts val="3240"/>
                </a:lnSpc>
              </a:pPr>
              <a:r>
                <a:rPr lang="en-US" sz="1687">
                  <a:solidFill>
                    <a:srgbClr val="5C5248"/>
                  </a:solidFill>
                  <a:latin typeface="Montserrat"/>
                  <a:ea typeface="Montserrat"/>
                  <a:cs typeface="Montserrat"/>
                  <a:sym typeface="Montserrat"/>
                </a:rPr>
                <a:t>Development of moral contamination schemas and profound bodily shame.</a:t>
              </a:r>
            </a:p>
          </p:txBody>
        </p:sp>
        <p:sp>
          <p:nvSpPr>
            <p:cNvPr name="TextBox 9" id="9"/>
            <p:cNvSpPr txBox="true"/>
            <p:nvPr/>
          </p:nvSpPr>
          <p:spPr>
            <a:xfrm rot="0">
              <a:off x="9717585" y="3533775"/>
              <a:ext cx="2939462" cy="466714"/>
            </a:xfrm>
            <a:prstGeom prst="rect">
              <a:avLst/>
            </a:prstGeom>
          </p:spPr>
          <p:txBody>
            <a:bodyPr anchor="t" rtlCol="false" tIns="0" lIns="0" bIns="0" rIns="0">
              <a:spAutoFit/>
            </a:bodyPr>
            <a:lstStyle/>
            <a:p>
              <a:pPr algn="ctr">
                <a:lnSpc>
                  <a:spcPts val="2700"/>
                </a:lnSpc>
              </a:pPr>
              <a:r>
                <a:rPr lang="en-US" b="true" sz="2250">
                  <a:solidFill>
                    <a:srgbClr val="8C7355"/>
                  </a:solidFill>
                  <a:latin typeface="Montserrat Medium"/>
                  <a:ea typeface="Montserrat Medium"/>
                  <a:cs typeface="Montserrat Medium"/>
                  <a:sym typeface="Montserrat Medium"/>
                </a:rPr>
                <a:t>3. Context Shift</a:t>
              </a:r>
            </a:p>
          </p:txBody>
        </p:sp>
        <p:sp>
          <p:nvSpPr>
            <p:cNvPr name="TextBox 10" id="10"/>
            <p:cNvSpPr txBox="true"/>
            <p:nvPr/>
          </p:nvSpPr>
          <p:spPr>
            <a:xfrm rot="0">
              <a:off x="9060066" y="4171950"/>
              <a:ext cx="4254500" cy="1546844"/>
            </a:xfrm>
            <a:prstGeom prst="rect">
              <a:avLst/>
            </a:prstGeom>
          </p:spPr>
          <p:txBody>
            <a:bodyPr anchor="t" rtlCol="false" tIns="0" lIns="0" bIns="0" rIns="0">
              <a:spAutoFit/>
            </a:bodyPr>
            <a:lstStyle/>
            <a:p>
              <a:pPr algn="ctr">
                <a:lnSpc>
                  <a:spcPts val="3240"/>
                </a:lnSpc>
              </a:pPr>
              <a:r>
                <a:rPr lang="en-US" sz="1687">
                  <a:solidFill>
                    <a:srgbClr val="5C5248"/>
                  </a:solidFill>
                  <a:latin typeface="Montserrat"/>
                  <a:ea typeface="Montserrat"/>
                  <a:cs typeface="Montserrat"/>
                  <a:sym typeface="Montserrat"/>
                </a:rPr>
                <a:t>Entering adult intimacy/ marriage where "forbidden" acts are suddenly expected.</a:t>
              </a:r>
            </a:p>
          </p:txBody>
        </p:sp>
        <p:sp>
          <p:nvSpPr>
            <p:cNvPr name="TextBox 11" id="11"/>
            <p:cNvSpPr txBox="true"/>
            <p:nvPr/>
          </p:nvSpPr>
          <p:spPr>
            <a:xfrm rot="0">
              <a:off x="13788516" y="-9525"/>
              <a:ext cx="3857653" cy="466714"/>
            </a:xfrm>
            <a:prstGeom prst="rect">
              <a:avLst/>
            </a:prstGeom>
          </p:spPr>
          <p:txBody>
            <a:bodyPr anchor="t" rtlCol="false" tIns="0" lIns="0" bIns="0" rIns="0">
              <a:spAutoFit/>
            </a:bodyPr>
            <a:lstStyle/>
            <a:p>
              <a:pPr algn="ctr">
                <a:lnSpc>
                  <a:spcPts val="2700"/>
                </a:lnSpc>
              </a:pPr>
              <a:r>
                <a:rPr lang="en-US" b="true" sz="2250">
                  <a:solidFill>
                    <a:srgbClr val="8C7355"/>
                  </a:solidFill>
                  <a:latin typeface="Montserrat Medium"/>
                  <a:ea typeface="Montserrat Medium"/>
                  <a:cs typeface="Montserrat Medium"/>
                  <a:sym typeface="Montserrat Medium"/>
                </a:rPr>
                <a:t>4. Somatic Reaction</a:t>
              </a:r>
            </a:p>
          </p:txBody>
        </p:sp>
        <p:sp>
          <p:nvSpPr>
            <p:cNvPr name="TextBox 12" id="12"/>
            <p:cNvSpPr txBox="true"/>
            <p:nvPr/>
          </p:nvSpPr>
          <p:spPr>
            <a:xfrm rot="0">
              <a:off x="13590092" y="628650"/>
              <a:ext cx="4254500" cy="1546844"/>
            </a:xfrm>
            <a:prstGeom prst="rect">
              <a:avLst/>
            </a:prstGeom>
          </p:spPr>
          <p:txBody>
            <a:bodyPr anchor="t" rtlCol="false" tIns="0" lIns="0" bIns="0" rIns="0">
              <a:spAutoFit/>
            </a:bodyPr>
            <a:lstStyle/>
            <a:p>
              <a:pPr algn="ctr">
                <a:lnSpc>
                  <a:spcPts val="3240"/>
                </a:lnSpc>
              </a:pPr>
              <a:r>
                <a:rPr lang="en-US" sz="1687">
                  <a:solidFill>
                    <a:srgbClr val="5C5248"/>
                  </a:solidFill>
                  <a:latin typeface="Montserrat"/>
                  <a:ea typeface="Montserrat"/>
                  <a:cs typeface="Montserrat"/>
                  <a:sym typeface="Montserrat"/>
                </a:rPr>
                <a:t>Nervous system interprets sexual touch as a profound moral or physical threat.</a:t>
              </a:r>
            </a:p>
          </p:txBody>
        </p:sp>
        <p:sp>
          <p:nvSpPr>
            <p:cNvPr name="TextBox 13" id="13"/>
            <p:cNvSpPr txBox="true"/>
            <p:nvPr/>
          </p:nvSpPr>
          <p:spPr>
            <a:xfrm rot="0">
              <a:off x="18629031" y="3533775"/>
              <a:ext cx="3236676" cy="466714"/>
            </a:xfrm>
            <a:prstGeom prst="rect">
              <a:avLst/>
            </a:prstGeom>
          </p:spPr>
          <p:txBody>
            <a:bodyPr anchor="t" rtlCol="false" tIns="0" lIns="0" bIns="0" rIns="0">
              <a:spAutoFit/>
            </a:bodyPr>
            <a:lstStyle/>
            <a:p>
              <a:pPr algn="ctr">
                <a:lnSpc>
                  <a:spcPts val="2700"/>
                </a:lnSpc>
              </a:pPr>
              <a:r>
                <a:rPr lang="en-US" b="true" sz="2250">
                  <a:solidFill>
                    <a:srgbClr val="8C7355"/>
                  </a:solidFill>
                  <a:latin typeface="Montserrat Medium"/>
                  <a:ea typeface="Montserrat Medium"/>
                  <a:cs typeface="Montserrat Medium"/>
                  <a:sym typeface="Montserrat Medium"/>
                </a:rPr>
                <a:t>5. Clinical Reality</a:t>
              </a:r>
            </a:p>
          </p:txBody>
        </p:sp>
        <p:sp>
          <p:nvSpPr>
            <p:cNvPr name="TextBox 14" id="14"/>
            <p:cNvSpPr txBox="true"/>
            <p:nvPr/>
          </p:nvSpPr>
          <p:spPr>
            <a:xfrm rot="0">
              <a:off x="18120119" y="4171950"/>
              <a:ext cx="4254500" cy="1546844"/>
            </a:xfrm>
            <a:prstGeom prst="rect">
              <a:avLst/>
            </a:prstGeom>
          </p:spPr>
          <p:txBody>
            <a:bodyPr anchor="t" rtlCol="false" tIns="0" lIns="0" bIns="0" rIns="0">
              <a:spAutoFit/>
            </a:bodyPr>
            <a:lstStyle/>
            <a:p>
              <a:pPr algn="ctr">
                <a:lnSpc>
                  <a:spcPts val="3240"/>
                </a:lnSpc>
              </a:pPr>
              <a:r>
                <a:rPr lang="en-US" sz="1687">
                  <a:solidFill>
                    <a:srgbClr val="5C5248"/>
                  </a:solidFill>
                  <a:latin typeface="Montserrat"/>
                  <a:ea typeface="Montserrat"/>
                  <a:cs typeface="Montserrat"/>
                  <a:sym typeface="Montserrat"/>
                </a:rPr>
                <a:t>Presents as low desire, vaginismus, erectile dysfunction, or avoidance.</a:t>
              </a:r>
            </a:p>
          </p:txBody>
        </p:sp>
        <p:grpSp>
          <p:nvGrpSpPr>
            <p:cNvPr name="Group 15" id="15"/>
            <p:cNvGrpSpPr/>
            <p:nvPr/>
          </p:nvGrpSpPr>
          <p:grpSpPr>
            <a:xfrm rot="0">
              <a:off x="1860550" y="2705100"/>
              <a:ext cx="533400" cy="533400"/>
              <a:chOff x="0" y="0"/>
              <a:chExt cx="533400" cy="533400"/>
            </a:xfrm>
          </p:grpSpPr>
          <p:sp>
            <p:nvSpPr>
              <p:cNvPr name="Freeform 16" id="16"/>
              <p:cNvSpPr/>
              <p:nvPr/>
            </p:nvSpPr>
            <p:spPr>
              <a:xfrm flipH="false" flipV="false" rot="0">
                <a:off x="0" y="0"/>
                <a:ext cx="533400" cy="533400"/>
              </a:xfrm>
              <a:custGeom>
                <a:avLst/>
                <a:gdLst/>
                <a:ahLst/>
                <a:cxnLst/>
                <a:rect r="r" b="b" t="t" l="l"/>
                <a:pathLst>
                  <a:path h="533400" w="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F4F1EA"/>
              </a:solidFill>
              <a:ln w="57150" cap="sq">
                <a:solidFill>
                  <a:srgbClr val="8C7355"/>
                </a:solidFill>
                <a:prstDash val="solid"/>
                <a:miter/>
              </a:ln>
            </p:spPr>
          </p:sp>
        </p:grpSp>
        <p:grpSp>
          <p:nvGrpSpPr>
            <p:cNvPr name="Group 17" id="17"/>
            <p:cNvGrpSpPr/>
            <p:nvPr/>
          </p:nvGrpSpPr>
          <p:grpSpPr>
            <a:xfrm rot="0">
              <a:off x="6390576" y="2705100"/>
              <a:ext cx="533400" cy="533400"/>
              <a:chOff x="0" y="0"/>
              <a:chExt cx="533400" cy="533400"/>
            </a:xfrm>
          </p:grpSpPr>
          <p:sp>
            <p:nvSpPr>
              <p:cNvPr name="Freeform 18" id="18"/>
              <p:cNvSpPr/>
              <p:nvPr/>
            </p:nvSpPr>
            <p:spPr>
              <a:xfrm flipH="false" flipV="false" rot="0">
                <a:off x="0" y="0"/>
                <a:ext cx="533400" cy="533400"/>
              </a:xfrm>
              <a:custGeom>
                <a:avLst/>
                <a:gdLst/>
                <a:ahLst/>
                <a:cxnLst/>
                <a:rect r="r" b="b" t="t" l="l"/>
                <a:pathLst>
                  <a:path h="533400" w="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F4F1EA"/>
              </a:solidFill>
              <a:ln w="57150" cap="sq">
                <a:solidFill>
                  <a:srgbClr val="8C7355"/>
                </a:solidFill>
                <a:prstDash val="solid"/>
                <a:miter/>
              </a:ln>
            </p:spPr>
          </p:sp>
        </p:grpSp>
        <p:grpSp>
          <p:nvGrpSpPr>
            <p:cNvPr name="Group 19" id="19"/>
            <p:cNvGrpSpPr/>
            <p:nvPr/>
          </p:nvGrpSpPr>
          <p:grpSpPr>
            <a:xfrm rot="0">
              <a:off x="10920616" y="2705100"/>
              <a:ext cx="533400" cy="533400"/>
              <a:chOff x="0" y="0"/>
              <a:chExt cx="533400" cy="533400"/>
            </a:xfrm>
          </p:grpSpPr>
          <p:sp>
            <p:nvSpPr>
              <p:cNvPr name="Freeform 20" id="20"/>
              <p:cNvSpPr/>
              <p:nvPr/>
            </p:nvSpPr>
            <p:spPr>
              <a:xfrm flipH="false" flipV="false" rot="0">
                <a:off x="0" y="0"/>
                <a:ext cx="533400" cy="533400"/>
              </a:xfrm>
              <a:custGeom>
                <a:avLst/>
                <a:gdLst/>
                <a:ahLst/>
                <a:cxnLst/>
                <a:rect r="r" b="b" t="t" l="l"/>
                <a:pathLst>
                  <a:path h="533400" w="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F4F1EA"/>
              </a:solidFill>
              <a:ln w="57150" cap="sq">
                <a:solidFill>
                  <a:srgbClr val="8C7355"/>
                </a:solidFill>
                <a:prstDash val="solid"/>
                <a:miter/>
              </a:ln>
            </p:spPr>
          </p:sp>
        </p:grpSp>
        <p:grpSp>
          <p:nvGrpSpPr>
            <p:cNvPr name="Group 21" id="21"/>
            <p:cNvGrpSpPr/>
            <p:nvPr/>
          </p:nvGrpSpPr>
          <p:grpSpPr>
            <a:xfrm rot="0">
              <a:off x="15450642" y="2705100"/>
              <a:ext cx="533400" cy="533400"/>
              <a:chOff x="0" y="0"/>
              <a:chExt cx="533400" cy="533400"/>
            </a:xfrm>
          </p:grpSpPr>
          <p:sp>
            <p:nvSpPr>
              <p:cNvPr name="Freeform 22" id="22"/>
              <p:cNvSpPr/>
              <p:nvPr/>
            </p:nvSpPr>
            <p:spPr>
              <a:xfrm flipH="false" flipV="false" rot="0">
                <a:off x="0" y="0"/>
                <a:ext cx="533400" cy="533400"/>
              </a:xfrm>
              <a:custGeom>
                <a:avLst/>
                <a:gdLst/>
                <a:ahLst/>
                <a:cxnLst/>
                <a:rect r="r" b="b" t="t" l="l"/>
                <a:pathLst>
                  <a:path h="533400" w="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F4F1EA"/>
              </a:solidFill>
              <a:ln w="57150" cap="sq">
                <a:solidFill>
                  <a:srgbClr val="8C7355"/>
                </a:solidFill>
                <a:prstDash val="solid"/>
                <a:miter/>
              </a:ln>
            </p:spPr>
          </p:sp>
        </p:grpSp>
        <p:grpSp>
          <p:nvGrpSpPr>
            <p:cNvPr name="Group 23" id="23"/>
            <p:cNvGrpSpPr/>
            <p:nvPr/>
          </p:nvGrpSpPr>
          <p:grpSpPr>
            <a:xfrm rot="0">
              <a:off x="19980669" y="2705100"/>
              <a:ext cx="533400" cy="533400"/>
              <a:chOff x="0" y="0"/>
              <a:chExt cx="533400" cy="533400"/>
            </a:xfrm>
          </p:grpSpPr>
          <p:sp>
            <p:nvSpPr>
              <p:cNvPr name="Freeform 24" id="24"/>
              <p:cNvSpPr/>
              <p:nvPr/>
            </p:nvSpPr>
            <p:spPr>
              <a:xfrm flipH="false" flipV="false" rot="0">
                <a:off x="0" y="0"/>
                <a:ext cx="533400" cy="533400"/>
              </a:xfrm>
              <a:custGeom>
                <a:avLst/>
                <a:gdLst/>
                <a:ahLst/>
                <a:cxnLst/>
                <a:rect r="r" b="b" t="t" l="l"/>
                <a:pathLst>
                  <a:path h="533400" w="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F4F1EA"/>
              </a:solidFill>
              <a:ln w="57150" cap="sq">
                <a:solidFill>
                  <a:srgbClr val="8C7355"/>
                </a:solidFill>
                <a:prstDash val="solid"/>
                <a:miter/>
              </a:ln>
            </p:spPr>
          </p:sp>
        </p:grpSp>
      </p:grpSp>
      <p:sp>
        <p:nvSpPr>
          <p:cNvPr name="TextBox 25" id="25"/>
          <p:cNvSpPr txBox="true"/>
          <p:nvPr/>
        </p:nvSpPr>
        <p:spPr>
          <a:xfrm rot="0">
            <a:off x="857250" y="857250"/>
            <a:ext cx="7484395" cy="685784"/>
          </a:xfrm>
          <a:prstGeom prst="rect">
            <a:avLst/>
          </a:prstGeom>
        </p:spPr>
        <p:txBody>
          <a:bodyPr anchor="t" rtlCol="false" tIns="0" lIns="0" bIns="0" rIns="0">
            <a:spAutoFit/>
          </a:bodyPr>
          <a:lstStyle/>
          <a:p>
            <a:pPr algn="l">
              <a:lnSpc>
                <a:spcPts val="5400"/>
              </a:lnSpc>
            </a:pPr>
            <a:r>
              <a:rPr lang="en-US" b="true" sz="4500">
                <a:solidFill>
                  <a:srgbClr val="8C7355"/>
                </a:solidFill>
                <a:latin typeface="Montserrat Bold"/>
                <a:ea typeface="Montserrat Bold"/>
                <a:cs typeface="Montserrat Bold"/>
                <a:sym typeface="Montserrat Bold"/>
              </a:rPr>
              <a:t>TH</a:t>
            </a:r>
            <a:r>
              <a:rPr lang="en-US" b="true" sz="4500">
                <a:solidFill>
                  <a:srgbClr val="8C7355"/>
                </a:solidFill>
                <a:latin typeface="Montserrat Bold"/>
                <a:ea typeface="Montserrat Bold"/>
                <a:cs typeface="Montserrat Bold"/>
                <a:sym typeface="Montserrat Bold"/>
              </a:rPr>
              <a:t>E CLINICAL PATHWAY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1EA"/>
        </a:solidFill>
      </p:bgPr>
    </p:bg>
    <p:spTree>
      <p:nvGrpSpPr>
        <p:cNvPr id="1" name=""/>
        <p:cNvGrpSpPr/>
        <p:nvPr/>
      </p:nvGrpSpPr>
      <p:grpSpPr>
        <a:xfrm>
          <a:off x="0" y="0"/>
          <a:ext cx="0" cy="0"/>
          <a:chOff x="0" y="0"/>
          <a:chExt cx="0" cy="0"/>
        </a:xfrm>
      </p:grpSpPr>
      <p:grpSp>
        <p:nvGrpSpPr>
          <p:cNvPr name="Group 2" id="2"/>
          <p:cNvGrpSpPr/>
          <p:nvPr/>
        </p:nvGrpSpPr>
        <p:grpSpPr>
          <a:xfrm rot="0">
            <a:off x="857250" y="3480349"/>
            <a:ext cx="7929562" cy="4628931"/>
            <a:chOff x="0" y="0"/>
            <a:chExt cx="10572750" cy="6171908"/>
          </a:xfrm>
        </p:grpSpPr>
        <p:sp>
          <p:nvSpPr>
            <p:cNvPr name="Freeform 3" id="3" descr="image.png"/>
            <p:cNvSpPr/>
            <p:nvPr/>
          </p:nvSpPr>
          <p:spPr>
            <a:xfrm flipH="false" flipV="false" rot="0">
              <a:off x="0" y="0"/>
              <a:ext cx="10572750" cy="6171946"/>
            </a:xfrm>
            <a:custGeom>
              <a:avLst/>
              <a:gdLst/>
              <a:ahLst/>
              <a:cxnLst/>
              <a:rect r="r" b="b" t="t" l="l"/>
              <a:pathLst>
                <a:path h="6171946" w="10572750">
                  <a:moveTo>
                    <a:pt x="0" y="0"/>
                  </a:moveTo>
                  <a:lnTo>
                    <a:pt x="10572750" y="0"/>
                  </a:lnTo>
                  <a:lnTo>
                    <a:pt x="10572750" y="6171946"/>
                  </a:lnTo>
                  <a:lnTo>
                    <a:pt x="0" y="6171946"/>
                  </a:lnTo>
                  <a:lnTo>
                    <a:pt x="0" y="0"/>
                  </a:lnTo>
                  <a:close/>
                </a:path>
              </a:pathLst>
            </a:custGeom>
            <a:blipFill>
              <a:blip r:embed="rId2"/>
              <a:stretch>
                <a:fillRect l="0" t="0" r="0" b="-312"/>
              </a:stretch>
            </a:blipFill>
          </p:spPr>
        </p:sp>
      </p:grpSp>
      <p:grpSp>
        <p:nvGrpSpPr>
          <p:cNvPr name="Group 4" id="4"/>
          <p:cNvGrpSpPr/>
          <p:nvPr/>
        </p:nvGrpSpPr>
        <p:grpSpPr>
          <a:xfrm rot="0">
            <a:off x="9501188" y="3480349"/>
            <a:ext cx="7929562" cy="4628931"/>
            <a:chOff x="0" y="0"/>
            <a:chExt cx="10572750" cy="6171908"/>
          </a:xfrm>
        </p:grpSpPr>
        <p:sp>
          <p:nvSpPr>
            <p:cNvPr name="Freeform 5" id="5" descr="image.png"/>
            <p:cNvSpPr/>
            <p:nvPr/>
          </p:nvSpPr>
          <p:spPr>
            <a:xfrm flipH="false" flipV="false" rot="0">
              <a:off x="0" y="0"/>
              <a:ext cx="10572750" cy="6171946"/>
            </a:xfrm>
            <a:custGeom>
              <a:avLst/>
              <a:gdLst/>
              <a:ahLst/>
              <a:cxnLst/>
              <a:rect r="r" b="b" t="t" l="l"/>
              <a:pathLst>
                <a:path h="6171946" w="10572750">
                  <a:moveTo>
                    <a:pt x="0" y="0"/>
                  </a:moveTo>
                  <a:lnTo>
                    <a:pt x="10572750" y="0"/>
                  </a:lnTo>
                  <a:lnTo>
                    <a:pt x="10572750" y="6171946"/>
                  </a:lnTo>
                  <a:lnTo>
                    <a:pt x="0" y="6171946"/>
                  </a:lnTo>
                  <a:lnTo>
                    <a:pt x="0" y="0"/>
                  </a:lnTo>
                  <a:close/>
                </a:path>
              </a:pathLst>
            </a:custGeom>
            <a:blipFill>
              <a:blip r:embed="rId3"/>
              <a:stretch>
                <a:fillRect l="0" t="0" r="0" b="-312"/>
              </a:stretch>
            </a:blipFill>
          </p:spPr>
        </p:sp>
      </p:grpSp>
      <p:sp>
        <p:nvSpPr>
          <p:cNvPr name="TextBox 6" id="6"/>
          <p:cNvSpPr txBox="true"/>
          <p:nvPr/>
        </p:nvSpPr>
        <p:spPr>
          <a:xfrm rot="0">
            <a:off x="857250" y="1976438"/>
            <a:ext cx="16573500" cy="1015812"/>
          </a:xfrm>
          <a:prstGeom prst="rect">
            <a:avLst/>
          </a:prstGeom>
        </p:spPr>
        <p:txBody>
          <a:bodyPr anchor="t" rtlCol="false" tIns="0" lIns="0" bIns="0" rIns="0">
            <a:spAutoFit/>
          </a:bodyPr>
          <a:lstStyle/>
          <a:p>
            <a:pPr algn="l">
              <a:lnSpc>
                <a:spcPts val="4271"/>
              </a:lnSpc>
            </a:pPr>
            <a:r>
              <a:rPr lang="en-US" sz="2224">
                <a:solidFill>
                  <a:srgbClr val="5C5248"/>
                </a:solidFill>
                <a:latin typeface="Open Sans"/>
                <a:ea typeface="Open Sans"/>
                <a:cs typeface="Open Sans"/>
                <a:sym typeface="Open Sans"/>
              </a:rPr>
              <a:t>To effectively guide clients through unlearning, interactive psychoeducation is vital. Here are two dynamic tools used in this workshop framework:</a:t>
            </a:r>
          </a:p>
        </p:txBody>
      </p:sp>
      <p:sp>
        <p:nvSpPr>
          <p:cNvPr name="TextBox 7" id="7"/>
          <p:cNvSpPr txBox="true"/>
          <p:nvPr/>
        </p:nvSpPr>
        <p:spPr>
          <a:xfrm rot="0">
            <a:off x="1274088" y="4066137"/>
            <a:ext cx="7095887" cy="914310"/>
          </a:xfrm>
          <a:prstGeom prst="rect">
            <a:avLst/>
          </a:prstGeom>
        </p:spPr>
        <p:txBody>
          <a:bodyPr anchor="t" rtlCol="false" tIns="0" lIns="0" bIns="0" rIns="0">
            <a:spAutoFit/>
          </a:bodyPr>
          <a:lstStyle/>
          <a:p>
            <a:pPr algn="ctr">
              <a:lnSpc>
                <a:spcPts val="3660"/>
              </a:lnSpc>
            </a:pPr>
            <a:r>
              <a:rPr lang="en-US" b="true" sz="3050">
                <a:solidFill>
                  <a:srgbClr val="6D5B45"/>
                </a:solidFill>
                <a:latin typeface="Montserrat Medium"/>
                <a:ea typeface="Montserrat Medium"/>
                <a:cs typeface="Montserrat Medium"/>
                <a:sym typeface="Montserrat Medium"/>
              </a:rPr>
              <a:t>Game: "Baggage Claim - Unpack the Suitcase”</a:t>
            </a:r>
          </a:p>
        </p:txBody>
      </p:sp>
      <p:sp>
        <p:nvSpPr>
          <p:cNvPr name="TextBox 8" id="8"/>
          <p:cNvSpPr txBox="true"/>
          <p:nvPr/>
        </p:nvSpPr>
        <p:spPr>
          <a:xfrm rot="0">
            <a:off x="1443038" y="5109124"/>
            <a:ext cx="6757988" cy="2386509"/>
          </a:xfrm>
          <a:prstGeom prst="rect">
            <a:avLst/>
          </a:prstGeom>
        </p:spPr>
        <p:txBody>
          <a:bodyPr anchor="t" rtlCol="false" tIns="0" lIns="0" bIns="0" rIns="0">
            <a:spAutoFit/>
          </a:bodyPr>
          <a:lstStyle/>
          <a:p>
            <a:pPr algn="ctr">
              <a:lnSpc>
                <a:spcPts val="3887"/>
              </a:lnSpc>
            </a:pPr>
            <a:r>
              <a:rPr lang="en-US" sz="2025">
                <a:solidFill>
                  <a:srgbClr val="5C5248"/>
                </a:solidFill>
                <a:latin typeface="Open Sans"/>
                <a:ea typeface="Open Sans"/>
                <a:cs typeface="Open Sans"/>
                <a:sym typeface="Open Sans"/>
              </a:rPr>
              <a:t>An interactive digital sorting game designed for clients to categorize purity culture teachings into "Keep", "Repack" (Modify), or "Discard". This gamifies cognitive restructuring, making the overwhelming task of deconstruction tangible and less intimidating.</a:t>
            </a:r>
          </a:p>
        </p:txBody>
      </p:sp>
      <p:sp>
        <p:nvSpPr>
          <p:cNvPr name="TextBox 9" id="9"/>
          <p:cNvSpPr txBox="true"/>
          <p:nvPr/>
        </p:nvSpPr>
        <p:spPr>
          <a:xfrm rot="0">
            <a:off x="9918025" y="4066137"/>
            <a:ext cx="7095887" cy="914310"/>
          </a:xfrm>
          <a:prstGeom prst="rect">
            <a:avLst/>
          </a:prstGeom>
        </p:spPr>
        <p:txBody>
          <a:bodyPr anchor="t" rtlCol="false" tIns="0" lIns="0" bIns="0" rIns="0">
            <a:spAutoFit/>
          </a:bodyPr>
          <a:lstStyle/>
          <a:p>
            <a:pPr algn="ctr">
              <a:lnSpc>
                <a:spcPts val="3660"/>
              </a:lnSpc>
            </a:pPr>
            <a:r>
              <a:rPr lang="en-US" b="true" sz="3050">
                <a:solidFill>
                  <a:srgbClr val="6D5B45"/>
                </a:solidFill>
                <a:latin typeface="Montserrat Medium"/>
                <a:ea typeface="Montserrat Medium"/>
                <a:cs typeface="Montserrat Medium"/>
                <a:sym typeface="Montserrat Medium"/>
              </a:rPr>
              <a:t>Media Integration: Deconstruction Playlists</a:t>
            </a:r>
          </a:p>
        </p:txBody>
      </p:sp>
      <p:sp>
        <p:nvSpPr>
          <p:cNvPr name="TextBox 10" id="10"/>
          <p:cNvSpPr txBox="true"/>
          <p:nvPr/>
        </p:nvSpPr>
        <p:spPr>
          <a:xfrm rot="0">
            <a:off x="10086975" y="5109124"/>
            <a:ext cx="6757988" cy="2200056"/>
          </a:xfrm>
          <a:prstGeom prst="rect">
            <a:avLst/>
          </a:prstGeom>
        </p:spPr>
        <p:txBody>
          <a:bodyPr anchor="t" rtlCol="false" tIns="0" lIns="0" bIns="0" rIns="0">
            <a:spAutoFit/>
          </a:bodyPr>
          <a:lstStyle/>
          <a:p>
            <a:pPr algn="ctr">
              <a:lnSpc>
                <a:spcPts val="3887"/>
              </a:lnSpc>
            </a:pPr>
            <a:r>
              <a:rPr lang="en-US" sz="2025">
                <a:solidFill>
                  <a:srgbClr val="5C5248"/>
                </a:solidFill>
                <a:latin typeface="Open Sans"/>
                <a:ea typeface="Open Sans"/>
                <a:cs typeface="Open Sans"/>
                <a:sym typeface="Open Sans"/>
              </a:rPr>
              <a:t>Using popular music (e.g., Joy Oladokun, Hozier, Maddie Zahm) in therapy to externalize shame. Analyzing lyrics with clients provides a safe, third-party narrative to map their own emotional journey of religious trauma and sexual awakening.</a:t>
            </a:r>
          </a:p>
        </p:txBody>
      </p:sp>
      <p:sp>
        <p:nvSpPr>
          <p:cNvPr name="TextBox 11" id="11"/>
          <p:cNvSpPr txBox="true"/>
          <p:nvPr/>
        </p:nvSpPr>
        <p:spPr>
          <a:xfrm rot="0">
            <a:off x="857250" y="857250"/>
            <a:ext cx="7395865" cy="685784"/>
          </a:xfrm>
          <a:prstGeom prst="rect">
            <a:avLst/>
          </a:prstGeom>
        </p:spPr>
        <p:txBody>
          <a:bodyPr anchor="t" rtlCol="false" tIns="0" lIns="0" bIns="0" rIns="0">
            <a:spAutoFit/>
          </a:bodyPr>
          <a:lstStyle/>
          <a:p>
            <a:pPr algn="l">
              <a:lnSpc>
                <a:spcPts val="5400"/>
              </a:lnSpc>
            </a:pPr>
            <a:r>
              <a:rPr lang="en-US" b="true" sz="4500">
                <a:solidFill>
                  <a:srgbClr val="8C7355"/>
                </a:solidFill>
                <a:latin typeface="Montserrat Bold"/>
                <a:ea typeface="Montserrat Bold"/>
                <a:cs typeface="Montserrat Bold"/>
                <a:sym typeface="Montserrat Bold"/>
              </a:rPr>
              <a:t>INTERACTIVE ELEMENTS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1EA"/>
        </a:solidFill>
      </p:bgPr>
    </p:bg>
    <p:spTree>
      <p:nvGrpSpPr>
        <p:cNvPr id="1" name=""/>
        <p:cNvGrpSpPr/>
        <p:nvPr/>
      </p:nvGrpSpPr>
      <p:grpSpPr>
        <a:xfrm>
          <a:off x="0" y="0"/>
          <a:ext cx="0" cy="0"/>
          <a:chOff x="0" y="0"/>
          <a:chExt cx="0" cy="0"/>
        </a:xfrm>
      </p:grpSpPr>
      <p:sp>
        <p:nvSpPr>
          <p:cNvPr name="TextBox 2" id="2"/>
          <p:cNvSpPr txBox="true"/>
          <p:nvPr/>
        </p:nvSpPr>
        <p:spPr>
          <a:xfrm rot="0">
            <a:off x="857250" y="1143000"/>
            <a:ext cx="10972549" cy="685784"/>
          </a:xfrm>
          <a:prstGeom prst="rect">
            <a:avLst/>
          </a:prstGeom>
        </p:spPr>
        <p:txBody>
          <a:bodyPr anchor="t" rtlCol="false" tIns="0" lIns="0" bIns="0" rIns="0">
            <a:spAutoFit/>
          </a:bodyPr>
          <a:lstStyle/>
          <a:p>
            <a:pPr algn="l">
              <a:lnSpc>
                <a:spcPts val="5400"/>
              </a:lnSpc>
            </a:pPr>
            <a:r>
              <a:rPr lang="en-US" b="true" sz="4500">
                <a:solidFill>
                  <a:srgbClr val="8C7355"/>
                </a:solidFill>
                <a:latin typeface="Montserrat Bold"/>
                <a:ea typeface="Montserrat Bold"/>
                <a:cs typeface="Montserrat Bold"/>
                <a:sym typeface="Montserrat Bold"/>
              </a:rPr>
              <a:t>THE "BAGGAGE CLAIM" GAME</a:t>
            </a:r>
          </a:p>
        </p:txBody>
      </p:sp>
      <p:sp>
        <p:nvSpPr>
          <p:cNvPr name="TextBox 3" id="3"/>
          <p:cNvSpPr txBox="true"/>
          <p:nvPr/>
        </p:nvSpPr>
        <p:spPr>
          <a:xfrm rot="0">
            <a:off x="9329738" y="3537499"/>
            <a:ext cx="4689592" cy="457155"/>
          </a:xfrm>
          <a:prstGeom prst="rect">
            <a:avLst/>
          </a:prstGeom>
        </p:spPr>
        <p:txBody>
          <a:bodyPr anchor="t" rtlCol="false" tIns="0" lIns="0" bIns="0" rIns="0">
            <a:spAutoFit/>
          </a:bodyPr>
          <a:lstStyle/>
          <a:p>
            <a:pPr algn="l">
              <a:lnSpc>
                <a:spcPts val="3660"/>
              </a:lnSpc>
            </a:pPr>
            <a:r>
              <a:rPr lang="en-US" b="true" sz="3050">
                <a:solidFill>
                  <a:srgbClr val="6D5B45"/>
                </a:solidFill>
                <a:latin typeface="Montserrat Medium"/>
                <a:ea typeface="Montserrat Medium"/>
                <a:cs typeface="Montserrat Medium"/>
                <a:sym typeface="Montserrat Medium"/>
              </a:rPr>
              <a:t>Unpacking the Suitcase</a:t>
            </a:r>
          </a:p>
        </p:txBody>
      </p:sp>
      <p:sp>
        <p:nvSpPr>
          <p:cNvPr name="TextBox 4" id="4"/>
          <p:cNvSpPr txBox="true"/>
          <p:nvPr/>
        </p:nvSpPr>
        <p:spPr>
          <a:xfrm rot="0">
            <a:off x="9329738" y="4189143"/>
            <a:ext cx="7929562" cy="1377182"/>
          </a:xfrm>
          <a:prstGeom prst="rect">
            <a:avLst/>
          </a:prstGeom>
        </p:spPr>
        <p:txBody>
          <a:bodyPr anchor="t" rtlCol="false" tIns="0" lIns="0" bIns="0" rIns="0">
            <a:spAutoFit/>
          </a:bodyPr>
          <a:lstStyle/>
          <a:p>
            <a:pPr algn="l">
              <a:lnSpc>
                <a:spcPts val="3887"/>
              </a:lnSpc>
            </a:pPr>
            <a:r>
              <a:rPr lang="en-US" sz="2025">
                <a:solidFill>
                  <a:srgbClr val="5C5248"/>
                </a:solidFill>
                <a:latin typeface="Open Sans"/>
                <a:ea typeface="Open Sans"/>
                <a:cs typeface="Open Sans"/>
                <a:sym typeface="Open Sans"/>
              </a:rPr>
              <a:t>We often carry the theological and sexual "baggage" packed for us by authority figures in childhood, never opening it to see if the contents actually fit our adult lives.</a:t>
            </a:r>
          </a:p>
        </p:txBody>
      </p:sp>
      <p:sp>
        <p:nvSpPr>
          <p:cNvPr name="TextBox 5" id="5"/>
          <p:cNvSpPr txBox="true"/>
          <p:nvPr/>
        </p:nvSpPr>
        <p:spPr>
          <a:xfrm rot="0">
            <a:off x="9329738" y="5651940"/>
            <a:ext cx="7929562" cy="2386441"/>
          </a:xfrm>
          <a:prstGeom prst="rect">
            <a:avLst/>
          </a:prstGeom>
        </p:spPr>
        <p:txBody>
          <a:bodyPr anchor="t" rtlCol="false" tIns="0" lIns="0" bIns="0" rIns="0">
            <a:spAutoFit/>
          </a:bodyPr>
          <a:lstStyle/>
          <a:p>
            <a:pPr algn="l">
              <a:lnSpc>
                <a:spcPts val="3887"/>
              </a:lnSpc>
            </a:pPr>
            <a:r>
              <a:rPr lang="en-US" sz="2025">
                <a:solidFill>
                  <a:srgbClr val="5C5248"/>
                </a:solidFill>
                <a:latin typeface="Open Sans"/>
                <a:ea typeface="Open Sans"/>
                <a:cs typeface="Open Sans"/>
                <a:sym typeface="Open Sans"/>
              </a:rPr>
              <a:t>This interactive module prompts users to visually "unpack" beliefs. When a user clicks a belief (e.g., "My worth is tied to my virginity"), they must actively drag it to the 'Discard' pile. This builds cognitive agency and initiates the critical thinking process stunted by authoritarian environments.</a:t>
            </a:r>
          </a:p>
        </p:txBody>
      </p:sp>
      <p:grpSp>
        <p:nvGrpSpPr>
          <p:cNvPr name="Group 6" id="6"/>
          <p:cNvGrpSpPr/>
          <p:nvPr/>
        </p:nvGrpSpPr>
        <p:grpSpPr>
          <a:xfrm rot="0">
            <a:off x="857250" y="3480349"/>
            <a:ext cx="7929562" cy="4628931"/>
            <a:chOff x="0" y="0"/>
            <a:chExt cx="10572750" cy="6171908"/>
          </a:xfrm>
        </p:grpSpPr>
        <p:sp>
          <p:nvSpPr>
            <p:cNvPr name="Freeform 7" id="7" descr="image.png"/>
            <p:cNvSpPr/>
            <p:nvPr/>
          </p:nvSpPr>
          <p:spPr>
            <a:xfrm flipH="false" flipV="false" rot="0">
              <a:off x="0" y="0"/>
              <a:ext cx="10572750" cy="6171946"/>
            </a:xfrm>
            <a:custGeom>
              <a:avLst/>
              <a:gdLst/>
              <a:ahLst/>
              <a:cxnLst/>
              <a:rect r="r" b="b" t="t" l="l"/>
              <a:pathLst>
                <a:path h="6171946" w="10572750">
                  <a:moveTo>
                    <a:pt x="0" y="0"/>
                  </a:moveTo>
                  <a:lnTo>
                    <a:pt x="10572750" y="0"/>
                  </a:lnTo>
                  <a:lnTo>
                    <a:pt x="10572750" y="6171946"/>
                  </a:lnTo>
                  <a:lnTo>
                    <a:pt x="0" y="6171946"/>
                  </a:lnTo>
                  <a:lnTo>
                    <a:pt x="0" y="0"/>
                  </a:lnTo>
                  <a:close/>
                </a:path>
              </a:pathLst>
            </a:custGeom>
            <a:blipFill>
              <a:blip r:embed="rId2"/>
              <a:stretch>
                <a:fillRect l="0" t="0" r="0" b="-312"/>
              </a:stretch>
            </a:blipFill>
          </p:spPr>
        </p:sp>
      </p:grpSp>
      <p:sp>
        <p:nvSpPr>
          <p:cNvPr name="TextBox 8" id="8"/>
          <p:cNvSpPr txBox="true"/>
          <p:nvPr/>
        </p:nvSpPr>
        <p:spPr>
          <a:xfrm rot="0">
            <a:off x="1274088" y="4066137"/>
            <a:ext cx="7095887" cy="914310"/>
          </a:xfrm>
          <a:prstGeom prst="rect">
            <a:avLst/>
          </a:prstGeom>
        </p:spPr>
        <p:txBody>
          <a:bodyPr anchor="t" rtlCol="false" tIns="0" lIns="0" bIns="0" rIns="0">
            <a:spAutoFit/>
          </a:bodyPr>
          <a:lstStyle/>
          <a:p>
            <a:pPr algn="ctr">
              <a:lnSpc>
                <a:spcPts val="3660"/>
              </a:lnSpc>
            </a:pPr>
            <a:r>
              <a:rPr lang="en-US" b="true" sz="3050">
                <a:solidFill>
                  <a:srgbClr val="6D5B45"/>
                </a:solidFill>
                <a:latin typeface="Montserrat Medium"/>
                <a:ea typeface="Montserrat Medium"/>
                <a:cs typeface="Montserrat Medium"/>
                <a:sym typeface="Montserrat Medium"/>
              </a:rPr>
              <a:t>Game: "Baggage Claim - Unpack the Suitcase”</a:t>
            </a:r>
          </a:p>
        </p:txBody>
      </p:sp>
      <p:sp>
        <p:nvSpPr>
          <p:cNvPr name="TextBox 9" id="9"/>
          <p:cNvSpPr txBox="true"/>
          <p:nvPr/>
        </p:nvSpPr>
        <p:spPr>
          <a:xfrm rot="0">
            <a:off x="1443038" y="5109124"/>
            <a:ext cx="6757988" cy="2386509"/>
          </a:xfrm>
          <a:prstGeom prst="rect">
            <a:avLst/>
          </a:prstGeom>
        </p:spPr>
        <p:txBody>
          <a:bodyPr anchor="t" rtlCol="false" tIns="0" lIns="0" bIns="0" rIns="0">
            <a:spAutoFit/>
          </a:bodyPr>
          <a:lstStyle/>
          <a:p>
            <a:pPr algn="ctr">
              <a:lnSpc>
                <a:spcPts val="3887"/>
              </a:lnSpc>
            </a:pPr>
            <a:r>
              <a:rPr lang="en-US" sz="2025">
                <a:solidFill>
                  <a:srgbClr val="5C5248"/>
                </a:solidFill>
                <a:latin typeface="Open Sans"/>
                <a:ea typeface="Open Sans"/>
                <a:cs typeface="Open Sans"/>
                <a:sym typeface="Open Sans"/>
              </a:rPr>
              <a:t>An interactive digital sorting game designed for clients to categorize purity culture teachings into "Keep", "Repack" (Modify), or "Discard". This gamifies cognitive restructuring, making the overwhelming task of deconstruction tangible and less intimidating.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1EA"/>
        </a:solidFill>
      </p:bgPr>
    </p:bg>
    <p:spTree>
      <p:nvGrpSpPr>
        <p:cNvPr id="1" name=""/>
        <p:cNvGrpSpPr/>
        <p:nvPr/>
      </p:nvGrpSpPr>
      <p:grpSpPr>
        <a:xfrm>
          <a:off x="0" y="0"/>
          <a:ext cx="0" cy="0"/>
          <a:chOff x="0" y="0"/>
          <a:chExt cx="0" cy="0"/>
        </a:xfrm>
      </p:grpSpPr>
      <p:sp>
        <p:nvSpPr>
          <p:cNvPr name="TextBox 2" id="2"/>
          <p:cNvSpPr txBox="true"/>
          <p:nvPr/>
        </p:nvSpPr>
        <p:spPr>
          <a:xfrm rot="0">
            <a:off x="857250" y="1143000"/>
            <a:ext cx="10972549" cy="685784"/>
          </a:xfrm>
          <a:prstGeom prst="rect">
            <a:avLst/>
          </a:prstGeom>
        </p:spPr>
        <p:txBody>
          <a:bodyPr anchor="t" rtlCol="false" tIns="0" lIns="0" bIns="0" rIns="0">
            <a:spAutoFit/>
          </a:bodyPr>
          <a:lstStyle/>
          <a:p>
            <a:pPr algn="l">
              <a:lnSpc>
                <a:spcPts val="5400"/>
              </a:lnSpc>
            </a:pPr>
            <a:r>
              <a:rPr lang="en-US" b="true" sz="4500">
                <a:solidFill>
                  <a:srgbClr val="8C7355"/>
                </a:solidFill>
                <a:latin typeface="Montserrat Bold"/>
                <a:ea typeface="Montserrat Bold"/>
                <a:cs typeface="Montserrat Bold"/>
                <a:sym typeface="Montserrat Bold"/>
              </a:rPr>
              <a:t>MEDIA INTEGRATION</a:t>
            </a:r>
          </a:p>
        </p:txBody>
      </p:sp>
      <p:sp>
        <p:nvSpPr>
          <p:cNvPr name="TextBox 3" id="3"/>
          <p:cNvSpPr txBox="true"/>
          <p:nvPr/>
        </p:nvSpPr>
        <p:spPr>
          <a:xfrm rot="0">
            <a:off x="857250" y="3066505"/>
            <a:ext cx="3992780" cy="457155"/>
          </a:xfrm>
          <a:prstGeom prst="rect">
            <a:avLst/>
          </a:prstGeom>
        </p:spPr>
        <p:txBody>
          <a:bodyPr anchor="t" rtlCol="false" tIns="0" lIns="0" bIns="0" rIns="0">
            <a:spAutoFit/>
          </a:bodyPr>
          <a:lstStyle/>
          <a:p>
            <a:pPr algn="l">
              <a:lnSpc>
                <a:spcPts val="3660"/>
              </a:lnSpc>
            </a:pPr>
            <a:r>
              <a:rPr lang="en-US" b="true" sz="3050">
                <a:solidFill>
                  <a:srgbClr val="6D5B45"/>
                </a:solidFill>
                <a:latin typeface="Montserrat Medium"/>
                <a:ea typeface="Montserrat Medium"/>
                <a:cs typeface="Montserrat Medium"/>
                <a:sym typeface="Montserrat Medium"/>
              </a:rPr>
              <a:t>Curating the playlist</a:t>
            </a:r>
          </a:p>
        </p:txBody>
      </p:sp>
      <p:sp>
        <p:nvSpPr>
          <p:cNvPr name="TextBox 4" id="4"/>
          <p:cNvSpPr txBox="true"/>
          <p:nvPr/>
        </p:nvSpPr>
        <p:spPr>
          <a:xfrm rot="0">
            <a:off x="857250" y="3851755"/>
            <a:ext cx="7929562" cy="3843681"/>
          </a:xfrm>
          <a:prstGeom prst="rect">
            <a:avLst/>
          </a:prstGeom>
        </p:spPr>
        <p:txBody>
          <a:bodyPr anchor="t" rtlCol="false" tIns="0" lIns="0" bIns="0" rIns="0">
            <a:spAutoFit/>
          </a:bodyPr>
          <a:lstStyle/>
          <a:p>
            <a:pPr algn="l">
              <a:lnSpc>
                <a:spcPts val="3887"/>
              </a:lnSpc>
            </a:pPr>
            <a:r>
              <a:rPr lang="en-US" sz="2025">
                <a:solidFill>
                  <a:srgbClr val="5C5248"/>
                </a:solidFill>
                <a:latin typeface="Open Sans"/>
                <a:ea typeface="Open Sans"/>
                <a:cs typeface="Open Sans"/>
                <a:sym typeface="Open Sans"/>
              </a:rPr>
              <a:t>Music involves the entire brain. Did you know general speaking and music affect our brains differently? When we are talking, our brains process it as an analytical and logical event - using  Wernicke’s and Broca's area. </a:t>
            </a:r>
          </a:p>
          <a:p>
            <a:pPr algn="l">
              <a:lnSpc>
                <a:spcPts val="3887"/>
              </a:lnSpc>
            </a:pPr>
          </a:p>
          <a:p>
            <a:pPr algn="l">
              <a:lnSpc>
                <a:spcPts val="3887"/>
              </a:lnSpc>
            </a:pPr>
            <a:r>
              <a:rPr lang="en-US" sz="2025">
                <a:solidFill>
                  <a:srgbClr val="5C5248"/>
                </a:solidFill>
                <a:latin typeface="Open Sans"/>
                <a:ea typeface="Open Sans"/>
                <a:cs typeface="Open Sans"/>
                <a:sym typeface="Open Sans"/>
              </a:rPr>
              <a:t>Music affects the sensory, reward, and motor regions of our brains. When someone taps their foot to a beat, that’s music sending a signal down to motor cortex and cerebellum. </a:t>
            </a:r>
          </a:p>
        </p:txBody>
      </p:sp>
      <p:grpSp>
        <p:nvGrpSpPr>
          <p:cNvPr name="Group 5" id="5"/>
          <p:cNvGrpSpPr/>
          <p:nvPr/>
        </p:nvGrpSpPr>
        <p:grpSpPr>
          <a:xfrm rot="0">
            <a:off x="9582552" y="3066505"/>
            <a:ext cx="7929562" cy="4628931"/>
            <a:chOff x="0" y="0"/>
            <a:chExt cx="10572750" cy="6171908"/>
          </a:xfrm>
        </p:grpSpPr>
        <p:sp>
          <p:nvSpPr>
            <p:cNvPr name="Freeform 6" id="6" descr="image.png"/>
            <p:cNvSpPr/>
            <p:nvPr/>
          </p:nvSpPr>
          <p:spPr>
            <a:xfrm flipH="false" flipV="false" rot="0">
              <a:off x="0" y="0"/>
              <a:ext cx="10572750" cy="6171946"/>
            </a:xfrm>
            <a:custGeom>
              <a:avLst/>
              <a:gdLst/>
              <a:ahLst/>
              <a:cxnLst/>
              <a:rect r="r" b="b" t="t" l="l"/>
              <a:pathLst>
                <a:path h="6171946" w="10572750">
                  <a:moveTo>
                    <a:pt x="0" y="0"/>
                  </a:moveTo>
                  <a:lnTo>
                    <a:pt x="10572750" y="0"/>
                  </a:lnTo>
                  <a:lnTo>
                    <a:pt x="10572750" y="6171946"/>
                  </a:lnTo>
                  <a:lnTo>
                    <a:pt x="0" y="6171946"/>
                  </a:lnTo>
                  <a:lnTo>
                    <a:pt x="0" y="0"/>
                  </a:lnTo>
                  <a:close/>
                </a:path>
              </a:pathLst>
            </a:custGeom>
            <a:blipFill>
              <a:blip r:embed="rId2"/>
              <a:stretch>
                <a:fillRect l="0" t="0" r="0" b="-312"/>
              </a:stretch>
            </a:blipFill>
          </p:spPr>
        </p:sp>
      </p:grpSp>
      <p:sp>
        <p:nvSpPr>
          <p:cNvPr name="TextBox 7" id="7"/>
          <p:cNvSpPr txBox="true"/>
          <p:nvPr/>
        </p:nvSpPr>
        <p:spPr>
          <a:xfrm rot="0">
            <a:off x="9999390" y="3652293"/>
            <a:ext cx="7095887" cy="914310"/>
          </a:xfrm>
          <a:prstGeom prst="rect">
            <a:avLst/>
          </a:prstGeom>
        </p:spPr>
        <p:txBody>
          <a:bodyPr anchor="t" rtlCol="false" tIns="0" lIns="0" bIns="0" rIns="0">
            <a:spAutoFit/>
          </a:bodyPr>
          <a:lstStyle/>
          <a:p>
            <a:pPr algn="ctr">
              <a:lnSpc>
                <a:spcPts val="3660"/>
              </a:lnSpc>
            </a:pPr>
            <a:r>
              <a:rPr lang="en-US" b="true" sz="3050">
                <a:solidFill>
                  <a:srgbClr val="6D5B45"/>
                </a:solidFill>
                <a:latin typeface="Montserrat Medium"/>
                <a:ea typeface="Montserrat Medium"/>
                <a:cs typeface="Montserrat Medium"/>
                <a:sym typeface="Montserrat Medium"/>
              </a:rPr>
              <a:t>Media Integration: Deconstruction Playlists</a:t>
            </a:r>
          </a:p>
        </p:txBody>
      </p:sp>
      <p:sp>
        <p:nvSpPr>
          <p:cNvPr name="TextBox 8" id="8"/>
          <p:cNvSpPr txBox="true"/>
          <p:nvPr/>
        </p:nvSpPr>
        <p:spPr>
          <a:xfrm rot="0">
            <a:off x="10168339" y="4695280"/>
            <a:ext cx="6757988" cy="2200056"/>
          </a:xfrm>
          <a:prstGeom prst="rect">
            <a:avLst/>
          </a:prstGeom>
        </p:spPr>
        <p:txBody>
          <a:bodyPr anchor="t" rtlCol="false" tIns="0" lIns="0" bIns="0" rIns="0">
            <a:spAutoFit/>
          </a:bodyPr>
          <a:lstStyle/>
          <a:p>
            <a:pPr algn="ctr">
              <a:lnSpc>
                <a:spcPts val="3887"/>
              </a:lnSpc>
            </a:pPr>
            <a:r>
              <a:rPr lang="en-US" sz="2025">
                <a:solidFill>
                  <a:srgbClr val="5C5248"/>
                </a:solidFill>
                <a:latin typeface="Open Sans"/>
                <a:ea typeface="Open Sans"/>
                <a:cs typeface="Open Sans"/>
                <a:sym typeface="Open Sans"/>
              </a:rPr>
              <a:t>Using popular music (e.g., Joy Oladokun, Hozier, Maddie Zahm) in therapy to externalize shame. Analyzing lyrics with clients provides a safe, third-party narrative to map their own emotional journey of religious trauma and sexual awakening.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1EA"/>
        </a:solidFill>
      </p:bgPr>
    </p:bg>
    <p:spTree>
      <p:nvGrpSpPr>
        <p:cNvPr id="1" name=""/>
        <p:cNvGrpSpPr/>
        <p:nvPr/>
      </p:nvGrpSpPr>
      <p:grpSpPr>
        <a:xfrm>
          <a:off x="0" y="0"/>
          <a:ext cx="0" cy="0"/>
          <a:chOff x="0" y="0"/>
          <a:chExt cx="0" cy="0"/>
        </a:xfrm>
      </p:grpSpPr>
      <p:sp>
        <p:nvSpPr>
          <p:cNvPr name="Freeform 2" id="2"/>
          <p:cNvSpPr/>
          <p:nvPr/>
        </p:nvSpPr>
        <p:spPr>
          <a:xfrm flipH="false" flipV="false" rot="0">
            <a:off x="689718" y="5212450"/>
            <a:ext cx="398665" cy="2822408"/>
          </a:xfrm>
          <a:custGeom>
            <a:avLst/>
            <a:gdLst/>
            <a:ahLst/>
            <a:cxnLst/>
            <a:rect r="r" b="b" t="t" l="l"/>
            <a:pathLst>
              <a:path h="2822408" w="398665">
                <a:moveTo>
                  <a:pt x="0" y="0"/>
                </a:moveTo>
                <a:lnTo>
                  <a:pt x="398666" y="0"/>
                </a:lnTo>
                <a:lnTo>
                  <a:pt x="398666" y="2822409"/>
                </a:lnTo>
                <a:lnTo>
                  <a:pt x="0" y="28224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57250" y="2157865"/>
            <a:ext cx="7929562" cy="2286000"/>
          </a:xfrm>
          <a:prstGeom prst="rect">
            <a:avLst/>
          </a:prstGeom>
        </p:spPr>
        <p:txBody>
          <a:bodyPr anchor="t" rtlCol="false" tIns="0" lIns="0" bIns="0" rIns="0">
            <a:spAutoFit/>
          </a:bodyPr>
          <a:lstStyle/>
          <a:p>
            <a:pPr algn="ctr">
              <a:lnSpc>
                <a:spcPts val="21600"/>
              </a:lnSpc>
            </a:pPr>
            <a:r>
              <a:rPr lang="en-US" b="true" sz="18000">
                <a:solidFill>
                  <a:srgbClr val="8C7355"/>
                </a:solidFill>
                <a:latin typeface="Montserrat Bold"/>
                <a:ea typeface="Montserrat Bold"/>
                <a:cs typeface="Montserrat Bold"/>
                <a:sym typeface="Montserrat Bold"/>
              </a:rPr>
              <a:t>17%</a:t>
            </a:r>
          </a:p>
        </p:txBody>
      </p:sp>
      <p:sp>
        <p:nvSpPr>
          <p:cNvPr name="TextBox 4" id="4"/>
          <p:cNvSpPr txBox="true"/>
          <p:nvPr/>
        </p:nvSpPr>
        <p:spPr>
          <a:xfrm rot="0">
            <a:off x="857250" y="4479910"/>
            <a:ext cx="7929562" cy="419096"/>
          </a:xfrm>
          <a:prstGeom prst="rect">
            <a:avLst/>
          </a:prstGeom>
        </p:spPr>
        <p:txBody>
          <a:bodyPr anchor="t" rtlCol="false" tIns="0" lIns="0" bIns="0" rIns="0">
            <a:spAutoFit/>
          </a:bodyPr>
          <a:lstStyle/>
          <a:p>
            <a:pPr algn="ctr">
              <a:lnSpc>
                <a:spcPts val="3240"/>
              </a:lnSpc>
            </a:pPr>
            <a:r>
              <a:rPr lang="en-US" b="true" sz="2700">
                <a:solidFill>
                  <a:srgbClr val="6D5B45"/>
                </a:solidFill>
                <a:latin typeface="Open Sans Medium"/>
                <a:ea typeface="Open Sans Medium"/>
                <a:cs typeface="Open Sans Medium"/>
                <a:sym typeface="Open Sans Medium"/>
              </a:rPr>
              <a:t>Variance in Sexual Shame</a:t>
            </a:r>
          </a:p>
        </p:txBody>
      </p:sp>
      <p:sp>
        <p:nvSpPr>
          <p:cNvPr name="TextBox 5" id="5"/>
          <p:cNvSpPr txBox="true"/>
          <p:nvPr/>
        </p:nvSpPr>
        <p:spPr>
          <a:xfrm rot="0">
            <a:off x="9501188" y="2701226"/>
            <a:ext cx="6119159" cy="476250"/>
          </a:xfrm>
          <a:prstGeom prst="rect">
            <a:avLst/>
          </a:prstGeom>
        </p:spPr>
        <p:txBody>
          <a:bodyPr anchor="t" rtlCol="false" tIns="0" lIns="0" bIns="0" rIns="0">
            <a:spAutoFit/>
          </a:bodyPr>
          <a:lstStyle/>
          <a:p>
            <a:pPr algn="l">
              <a:lnSpc>
                <a:spcPts val="3779"/>
              </a:lnSpc>
            </a:pPr>
            <a:r>
              <a:rPr lang="en-US" b="true" sz="3150">
                <a:solidFill>
                  <a:srgbClr val="6D5B45"/>
                </a:solidFill>
                <a:latin typeface="Montserrat Medium"/>
                <a:ea typeface="Montserrat Medium"/>
                <a:cs typeface="Montserrat Medium"/>
                <a:sym typeface="Montserrat Medium"/>
              </a:rPr>
              <a:t>A Unique Predictor of Distress</a:t>
            </a:r>
          </a:p>
        </p:txBody>
      </p:sp>
      <p:sp>
        <p:nvSpPr>
          <p:cNvPr name="TextBox 6" id="6"/>
          <p:cNvSpPr txBox="true"/>
          <p:nvPr/>
        </p:nvSpPr>
        <p:spPr>
          <a:xfrm rot="0">
            <a:off x="9501188" y="3727540"/>
            <a:ext cx="7929562" cy="2200056"/>
          </a:xfrm>
          <a:prstGeom prst="rect">
            <a:avLst/>
          </a:prstGeom>
        </p:spPr>
        <p:txBody>
          <a:bodyPr anchor="t" rtlCol="false" tIns="0" lIns="0" bIns="0" rIns="0">
            <a:spAutoFit/>
          </a:bodyPr>
          <a:lstStyle/>
          <a:p>
            <a:pPr algn="l">
              <a:lnSpc>
                <a:spcPts val="3887"/>
              </a:lnSpc>
            </a:pPr>
            <a:r>
              <a:rPr lang="en-US" sz="2025">
                <a:solidFill>
                  <a:srgbClr val="5C5248"/>
                </a:solidFill>
                <a:latin typeface="Open Sans"/>
                <a:ea typeface="Open Sans"/>
                <a:cs typeface="Open Sans"/>
                <a:sym typeface="Open Sans"/>
              </a:rPr>
              <a:t>Recent research indicates that childhood exposure to purity culture beliefs significantly predicts heightened sexual shame in adulthood. Strikingly, it accounts for up to 17% of the variance in sexual shame, maintaining significance even when accounting for other severe traumas like child sexual abuse.</a:t>
            </a:r>
          </a:p>
        </p:txBody>
      </p:sp>
      <p:sp>
        <p:nvSpPr>
          <p:cNvPr name="TextBox 7" id="7"/>
          <p:cNvSpPr txBox="true"/>
          <p:nvPr/>
        </p:nvSpPr>
        <p:spPr>
          <a:xfrm rot="0">
            <a:off x="9501188" y="6437184"/>
            <a:ext cx="7929562" cy="1377182"/>
          </a:xfrm>
          <a:prstGeom prst="rect">
            <a:avLst/>
          </a:prstGeom>
        </p:spPr>
        <p:txBody>
          <a:bodyPr anchor="t" rtlCol="false" tIns="0" lIns="0" bIns="0" rIns="0">
            <a:spAutoFit/>
          </a:bodyPr>
          <a:lstStyle/>
          <a:p>
            <a:pPr algn="l">
              <a:lnSpc>
                <a:spcPts val="3887"/>
              </a:lnSpc>
            </a:pPr>
            <a:r>
              <a:rPr lang="en-US" sz="2025">
                <a:solidFill>
                  <a:srgbClr val="5C5248"/>
                </a:solidFill>
                <a:latin typeface="Open Sans"/>
                <a:ea typeface="Open Sans"/>
                <a:cs typeface="Open Sans"/>
                <a:sym typeface="Open Sans"/>
              </a:rPr>
              <a:t>This shame subsequently predicts decreased sexual function and satisfaction, illustrating that rigid religious sexual ideology acts as a distinct, powerful form of relational trauma.</a:t>
            </a:r>
          </a:p>
        </p:txBody>
      </p:sp>
      <p:sp>
        <p:nvSpPr>
          <p:cNvPr name="TextBox 8" id="8"/>
          <p:cNvSpPr txBox="true"/>
          <p:nvPr/>
        </p:nvSpPr>
        <p:spPr>
          <a:xfrm rot="0">
            <a:off x="857250" y="857250"/>
            <a:ext cx="10091620" cy="685784"/>
          </a:xfrm>
          <a:prstGeom prst="rect">
            <a:avLst/>
          </a:prstGeom>
        </p:spPr>
        <p:txBody>
          <a:bodyPr anchor="t" rtlCol="false" tIns="0" lIns="0" bIns="0" rIns="0">
            <a:spAutoFit/>
          </a:bodyPr>
          <a:lstStyle/>
          <a:p>
            <a:pPr algn="l">
              <a:lnSpc>
                <a:spcPts val="5400"/>
              </a:lnSpc>
            </a:pPr>
            <a:r>
              <a:rPr lang="en-US" b="true" sz="4500">
                <a:solidFill>
                  <a:srgbClr val="8C7355"/>
                </a:solidFill>
                <a:latin typeface="Montserrat Bold"/>
                <a:ea typeface="Montserrat Bold"/>
                <a:cs typeface="Montserrat Bold"/>
                <a:sym typeface="Montserrat Bold"/>
              </a:rPr>
              <a:t>THE IMPACT OF PURITY CULTURE</a:t>
            </a:r>
          </a:p>
        </p:txBody>
      </p:sp>
      <p:sp>
        <p:nvSpPr>
          <p:cNvPr name="TextBox 9" id="9"/>
          <p:cNvSpPr txBox="true"/>
          <p:nvPr/>
        </p:nvSpPr>
        <p:spPr>
          <a:xfrm rot="0">
            <a:off x="1088384" y="5427969"/>
            <a:ext cx="7467295" cy="2386397"/>
          </a:xfrm>
          <a:prstGeom prst="rect">
            <a:avLst/>
          </a:prstGeom>
        </p:spPr>
        <p:txBody>
          <a:bodyPr anchor="t" rtlCol="false" tIns="0" lIns="0" bIns="0" rIns="0">
            <a:spAutoFit/>
          </a:bodyPr>
          <a:lstStyle/>
          <a:p>
            <a:pPr algn="l">
              <a:lnSpc>
                <a:spcPts val="3888"/>
              </a:lnSpc>
            </a:pPr>
            <a:r>
              <a:rPr lang="en-US" sz="2025">
                <a:solidFill>
                  <a:srgbClr val="5C5248"/>
                </a:solidFill>
                <a:latin typeface="Open Sans"/>
                <a:ea typeface="Open Sans"/>
                <a:cs typeface="Open Sans"/>
                <a:sym typeface="Open Sans"/>
              </a:rPr>
              <a:t>Purity culture disproportionately affects women more than men, as women are blamed for men’s sexual actions and are often told that their value is determined by their “purity” aka their virginity. Women experience a significantly higher rate of sexual shame than men (Azim, K. A., et. al., 2021). </a:t>
            </a:r>
          </a:p>
        </p:txBody>
      </p:sp>
      <p:sp>
        <p:nvSpPr>
          <p:cNvPr name="Freeform 10" id="10"/>
          <p:cNvSpPr/>
          <p:nvPr/>
        </p:nvSpPr>
        <p:spPr>
          <a:xfrm flipH="false" flipV="false" rot="-10800000">
            <a:off x="8450904" y="5212450"/>
            <a:ext cx="398665" cy="2822408"/>
          </a:xfrm>
          <a:custGeom>
            <a:avLst/>
            <a:gdLst/>
            <a:ahLst/>
            <a:cxnLst/>
            <a:rect r="r" b="b" t="t" l="l"/>
            <a:pathLst>
              <a:path h="2822408" w="398665">
                <a:moveTo>
                  <a:pt x="0" y="0"/>
                </a:moveTo>
                <a:lnTo>
                  <a:pt x="398665" y="0"/>
                </a:lnTo>
                <a:lnTo>
                  <a:pt x="398665" y="2822409"/>
                </a:lnTo>
                <a:lnTo>
                  <a:pt x="0" y="28224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F1EA"/>
        </a:solidFill>
      </p:bgPr>
    </p:bg>
    <p:spTree>
      <p:nvGrpSpPr>
        <p:cNvPr id="1" name=""/>
        <p:cNvGrpSpPr/>
        <p:nvPr/>
      </p:nvGrpSpPr>
      <p:grpSpPr>
        <a:xfrm>
          <a:off x="0" y="0"/>
          <a:ext cx="0" cy="0"/>
          <a:chOff x="0" y="0"/>
          <a:chExt cx="0" cy="0"/>
        </a:xfrm>
      </p:grpSpPr>
      <p:sp>
        <p:nvSpPr>
          <p:cNvPr name="TextBox 2" id="2"/>
          <p:cNvSpPr txBox="true"/>
          <p:nvPr/>
        </p:nvSpPr>
        <p:spPr>
          <a:xfrm rot="0">
            <a:off x="8032579" y="3182705"/>
            <a:ext cx="9388646" cy="4068785"/>
          </a:xfrm>
          <a:prstGeom prst="rect">
            <a:avLst/>
          </a:prstGeom>
        </p:spPr>
        <p:txBody>
          <a:bodyPr anchor="t" rtlCol="false" tIns="0" lIns="0" bIns="0" rIns="0">
            <a:spAutoFit/>
          </a:bodyPr>
          <a:lstStyle/>
          <a:p>
            <a:pPr algn="l">
              <a:lnSpc>
                <a:spcPts val="3248"/>
              </a:lnSpc>
            </a:pPr>
            <a:r>
              <a:rPr lang="en-US" sz="2030">
                <a:solidFill>
                  <a:srgbClr val="5C5248"/>
                </a:solidFill>
                <a:latin typeface="Montserrat"/>
                <a:ea typeface="Montserrat"/>
                <a:cs typeface="Montserrat"/>
                <a:sym typeface="Montserrat"/>
              </a:rPr>
              <a:t>Sex before marriage is a sin</a:t>
            </a:r>
          </a:p>
          <a:p>
            <a:pPr algn="l">
              <a:lnSpc>
                <a:spcPts val="3248"/>
              </a:lnSpc>
            </a:pPr>
            <a:r>
              <a:rPr lang="en-US" sz="2030">
                <a:solidFill>
                  <a:srgbClr val="5C5248"/>
                </a:solidFill>
                <a:latin typeface="Montserrat"/>
                <a:ea typeface="Montserrat"/>
                <a:cs typeface="Montserrat"/>
                <a:sym typeface="Montserrat"/>
              </a:rPr>
              <a:t>A woman’s virginity is a “gift” to their future husband</a:t>
            </a:r>
          </a:p>
          <a:p>
            <a:pPr algn="l">
              <a:lnSpc>
                <a:spcPts val="3248"/>
              </a:lnSpc>
            </a:pPr>
            <a:r>
              <a:rPr lang="en-US" sz="2030">
                <a:solidFill>
                  <a:srgbClr val="5C5248"/>
                </a:solidFill>
                <a:latin typeface="Montserrat"/>
                <a:ea typeface="Montserrat"/>
                <a:cs typeface="Montserrat"/>
                <a:sym typeface="Montserrat"/>
              </a:rPr>
              <a:t>Men cannot control their sexual urges</a:t>
            </a:r>
          </a:p>
          <a:p>
            <a:pPr algn="l">
              <a:lnSpc>
                <a:spcPts val="3248"/>
              </a:lnSpc>
            </a:pPr>
            <a:r>
              <a:rPr lang="en-US" sz="2030">
                <a:solidFill>
                  <a:srgbClr val="5C5248"/>
                </a:solidFill>
                <a:latin typeface="Montserrat"/>
                <a:ea typeface="Montserrat"/>
                <a:cs typeface="Montserrat"/>
                <a:sym typeface="Montserrat"/>
              </a:rPr>
              <a:t>It is a woman’s responsibility to ensure they dress modestly so they do not lead men to sexual sin (the “well, what was she wearing” explanation)</a:t>
            </a:r>
          </a:p>
          <a:p>
            <a:pPr algn="l">
              <a:lnSpc>
                <a:spcPts val="3248"/>
              </a:lnSpc>
            </a:pPr>
            <a:r>
              <a:rPr lang="en-US" sz="2030">
                <a:solidFill>
                  <a:srgbClr val="5C5248"/>
                </a:solidFill>
                <a:latin typeface="Montserrat"/>
                <a:ea typeface="Montserrat"/>
                <a:cs typeface="Montserrat"/>
                <a:sym typeface="Montserrat"/>
              </a:rPr>
              <a:t>Sex after marriage is a requirement</a:t>
            </a:r>
          </a:p>
          <a:p>
            <a:pPr algn="l">
              <a:lnSpc>
                <a:spcPts val="3248"/>
              </a:lnSpc>
            </a:pPr>
            <a:r>
              <a:rPr lang="en-US" sz="2030">
                <a:solidFill>
                  <a:srgbClr val="5C5248"/>
                </a:solidFill>
                <a:latin typeface="Montserrat"/>
                <a:ea typeface="Montserrat"/>
                <a:cs typeface="Montserrat"/>
                <a:sym typeface="Montserrat"/>
              </a:rPr>
              <a:t>Women can deny or “withhold” sex from their husband</a:t>
            </a:r>
          </a:p>
          <a:p>
            <a:pPr algn="l">
              <a:lnSpc>
                <a:spcPts val="3248"/>
              </a:lnSpc>
            </a:pPr>
            <a:r>
              <a:rPr lang="en-US" sz="2030">
                <a:solidFill>
                  <a:srgbClr val="5C5248"/>
                </a:solidFill>
                <a:latin typeface="Montserrat"/>
                <a:ea typeface="Montserrat"/>
                <a:cs typeface="Montserrat"/>
                <a:sym typeface="Montserrat"/>
              </a:rPr>
              <a:t>Women do not enjoy sex, but must always be available for it</a:t>
            </a:r>
          </a:p>
          <a:p>
            <a:pPr algn="l">
              <a:lnSpc>
                <a:spcPts val="3248"/>
              </a:lnSpc>
            </a:pPr>
            <a:r>
              <a:rPr lang="en-US" sz="2030">
                <a:solidFill>
                  <a:srgbClr val="5C5248"/>
                </a:solidFill>
                <a:latin typeface="Montserrat"/>
                <a:ea typeface="Montserrat"/>
                <a:cs typeface="Montserrat"/>
                <a:sym typeface="Montserrat"/>
              </a:rPr>
              <a:t>Consent does not exist in marriage</a:t>
            </a:r>
          </a:p>
        </p:txBody>
      </p:sp>
      <p:sp>
        <p:nvSpPr>
          <p:cNvPr name="TextBox 3" id="3"/>
          <p:cNvSpPr txBox="true"/>
          <p:nvPr/>
        </p:nvSpPr>
        <p:spPr>
          <a:xfrm rot="0">
            <a:off x="1391788" y="9486900"/>
            <a:ext cx="14909056" cy="361913"/>
          </a:xfrm>
          <a:prstGeom prst="rect">
            <a:avLst/>
          </a:prstGeom>
        </p:spPr>
        <p:txBody>
          <a:bodyPr anchor="t" rtlCol="false" tIns="0" lIns="0" bIns="0" rIns="0">
            <a:spAutoFit/>
          </a:bodyPr>
          <a:lstStyle/>
          <a:p>
            <a:pPr algn="ctr">
              <a:lnSpc>
                <a:spcPts val="2819"/>
              </a:lnSpc>
              <a:spcBef>
                <a:spcPct val="0"/>
              </a:spcBef>
            </a:pPr>
            <a:r>
              <a:rPr lang="en-US" b="true" sz="2349">
                <a:solidFill>
                  <a:srgbClr val="5C5248"/>
                </a:solidFill>
                <a:latin typeface="Montserrat Bold"/>
                <a:ea typeface="Montserrat Bold"/>
                <a:cs typeface="Montserrat Bold"/>
                <a:sym typeface="Montserrat Bold"/>
              </a:rPr>
              <a:t>Note: This can lead to sexual dysfunction such as low sexual desire, painful sex, and vaginismus</a:t>
            </a:r>
          </a:p>
        </p:txBody>
      </p:sp>
      <p:sp>
        <p:nvSpPr>
          <p:cNvPr name="TextBox 4" id="4"/>
          <p:cNvSpPr txBox="true"/>
          <p:nvPr/>
        </p:nvSpPr>
        <p:spPr>
          <a:xfrm rot="0">
            <a:off x="857250" y="1143000"/>
            <a:ext cx="16725827" cy="1371567"/>
          </a:xfrm>
          <a:prstGeom prst="rect">
            <a:avLst/>
          </a:prstGeom>
        </p:spPr>
        <p:txBody>
          <a:bodyPr anchor="t" rtlCol="false" tIns="0" lIns="0" bIns="0" rIns="0">
            <a:spAutoFit/>
          </a:bodyPr>
          <a:lstStyle/>
          <a:p>
            <a:pPr algn="l">
              <a:lnSpc>
                <a:spcPts val="5400"/>
              </a:lnSpc>
            </a:pPr>
            <a:r>
              <a:rPr lang="en-US" b="true" sz="4500">
                <a:solidFill>
                  <a:srgbClr val="8C7355"/>
                </a:solidFill>
                <a:latin typeface="Montserrat Bold"/>
                <a:ea typeface="Montserrat Bold"/>
                <a:cs typeface="Montserrat Bold"/>
                <a:sym typeface="Montserrat Bold"/>
              </a:rPr>
              <a:t>WOMEN</a:t>
            </a:r>
            <a:r>
              <a:rPr lang="en-US" b="true" sz="4500">
                <a:solidFill>
                  <a:srgbClr val="8C7355"/>
                </a:solidFill>
                <a:latin typeface="Montserrat Bold"/>
                <a:ea typeface="Montserrat Bold"/>
                <a:cs typeface="Montserrat Bold"/>
                <a:sym typeface="Montserrat Bold"/>
              </a:rPr>
              <a:t> WHO ARE RAISED WITHIN PURITY CULTURE ARE TAUGHT SOME FUNDAMENTAL BELIEFS: </a:t>
            </a:r>
          </a:p>
        </p:txBody>
      </p:sp>
      <p:sp>
        <p:nvSpPr>
          <p:cNvPr name="TextBox 5" id="5"/>
          <p:cNvSpPr txBox="true"/>
          <p:nvPr/>
        </p:nvSpPr>
        <p:spPr>
          <a:xfrm rot="0">
            <a:off x="975755" y="4226044"/>
            <a:ext cx="5894105" cy="3571794"/>
          </a:xfrm>
          <a:prstGeom prst="rect">
            <a:avLst/>
          </a:prstGeom>
        </p:spPr>
        <p:txBody>
          <a:bodyPr anchor="t" rtlCol="false" tIns="0" lIns="0" bIns="0" rIns="0">
            <a:spAutoFit/>
          </a:bodyPr>
          <a:lstStyle/>
          <a:p>
            <a:pPr algn="ctr">
              <a:lnSpc>
                <a:spcPts val="13500"/>
              </a:lnSpc>
            </a:pPr>
            <a:r>
              <a:rPr lang="en-US" sz="15000" b="true">
                <a:solidFill>
                  <a:srgbClr val="8C7355"/>
                </a:solidFill>
                <a:latin typeface="Montserrat Bold"/>
                <a:ea typeface="Montserrat Bold"/>
                <a:cs typeface="Montserrat Bold"/>
                <a:sym typeface="Montserrat Bold"/>
              </a:rPr>
              <a:t>20%-</a:t>
            </a:r>
          </a:p>
          <a:p>
            <a:pPr algn="ctr">
              <a:lnSpc>
                <a:spcPts val="13500"/>
              </a:lnSpc>
            </a:pPr>
            <a:r>
              <a:rPr lang="en-US" b="true" sz="15000">
                <a:solidFill>
                  <a:srgbClr val="8C7355"/>
                </a:solidFill>
                <a:latin typeface="Montserrat Bold"/>
                <a:ea typeface="Montserrat Bold"/>
                <a:cs typeface="Montserrat Bold"/>
                <a:sym typeface="Montserrat Bold"/>
              </a:rPr>
              <a:t>   40%</a:t>
            </a:r>
          </a:p>
        </p:txBody>
      </p:sp>
      <p:sp>
        <p:nvSpPr>
          <p:cNvPr name="Freeform 6" id="6"/>
          <p:cNvSpPr/>
          <p:nvPr/>
        </p:nvSpPr>
        <p:spPr>
          <a:xfrm flipH="false" flipV="false" rot="0">
            <a:off x="7512140" y="3334798"/>
            <a:ext cx="284823" cy="163417"/>
          </a:xfrm>
          <a:custGeom>
            <a:avLst/>
            <a:gdLst/>
            <a:ahLst/>
            <a:cxnLst/>
            <a:rect r="r" b="b" t="t" l="l"/>
            <a:pathLst>
              <a:path h="163417" w="284823">
                <a:moveTo>
                  <a:pt x="0" y="0"/>
                </a:moveTo>
                <a:lnTo>
                  <a:pt x="284823" y="0"/>
                </a:lnTo>
                <a:lnTo>
                  <a:pt x="284823" y="163418"/>
                </a:lnTo>
                <a:lnTo>
                  <a:pt x="0" y="1634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7512140" y="4561141"/>
            <a:ext cx="284823" cy="163417"/>
          </a:xfrm>
          <a:custGeom>
            <a:avLst/>
            <a:gdLst/>
            <a:ahLst/>
            <a:cxnLst/>
            <a:rect r="r" b="b" t="t" l="l"/>
            <a:pathLst>
              <a:path h="163417" w="284823">
                <a:moveTo>
                  <a:pt x="0" y="0"/>
                </a:moveTo>
                <a:lnTo>
                  <a:pt x="284823" y="0"/>
                </a:lnTo>
                <a:lnTo>
                  <a:pt x="284823" y="163417"/>
                </a:lnTo>
                <a:lnTo>
                  <a:pt x="0" y="1634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7512140" y="4140548"/>
            <a:ext cx="284823" cy="163417"/>
          </a:xfrm>
          <a:custGeom>
            <a:avLst/>
            <a:gdLst/>
            <a:ahLst/>
            <a:cxnLst/>
            <a:rect r="r" b="b" t="t" l="l"/>
            <a:pathLst>
              <a:path h="163417" w="284823">
                <a:moveTo>
                  <a:pt x="0" y="0"/>
                </a:moveTo>
                <a:lnTo>
                  <a:pt x="284823" y="0"/>
                </a:lnTo>
                <a:lnTo>
                  <a:pt x="284823" y="163418"/>
                </a:lnTo>
                <a:lnTo>
                  <a:pt x="0" y="1634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7512140" y="3756723"/>
            <a:ext cx="284823" cy="163417"/>
          </a:xfrm>
          <a:custGeom>
            <a:avLst/>
            <a:gdLst/>
            <a:ahLst/>
            <a:cxnLst/>
            <a:rect r="r" b="b" t="t" l="l"/>
            <a:pathLst>
              <a:path h="163417" w="284823">
                <a:moveTo>
                  <a:pt x="0" y="0"/>
                </a:moveTo>
                <a:lnTo>
                  <a:pt x="284823" y="0"/>
                </a:lnTo>
                <a:lnTo>
                  <a:pt x="284823" y="163418"/>
                </a:lnTo>
                <a:lnTo>
                  <a:pt x="0" y="1634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7512140" y="5791358"/>
            <a:ext cx="284823" cy="163417"/>
          </a:xfrm>
          <a:custGeom>
            <a:avLst/>
            <a:gdLst/>
            <a:ahLst/>
            <a:cxnLst/>
            <a:rect r="r" b="b" t="t" l="l"/>
            <a:pathLst>
              <a:path h="163417" w="284823">
                <a:moveTo>
                  <a:pt x="0" y="0"/>
                </a:moveTo>
                <a:lnTo>
                  <a:pt x="284823" y="0"/>
                </a:lnTo>
                <a:lnTo>
                  <a:pt x="284823" y="163417"/>
                </a:lnTo>
                <a:lnTo>
                  <a:pt x="0" y="1634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7512140" y="6193004"/>
            <a:ext cx="284823" cy="163417"/>
          </a:xfrm>
          <a:custGeom>
            <a:avLst/>
            <a:gdLst/>
            <a:ahLst/>
            <a:cxnLst/>
            <a:rect r="r" b="b" t="t" l="l"/>
            <a:pathLst>
              <a:path h="163417" w="284823">
                <a:moveTo>
                  <a:pt x="0" y="0"/>
                </a:moveTo>
                <a:lnTo>
                  <a:pt x="284823" y="0"/>
                </a:lnTo>
                <a:lnTo>
                  <a:pt x="284823" y="163417"/>
                </a:lnTo>
                <a:lnTo>
                  <a:pt x="0" y="1634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7512140" y="6594649"/>
            <a:ext cx="284823" cy="163417"/>
          </a:xfrm>
          <a:custGeom>
            <a:avLst/>
            <a:gdLst/>
            <a:ahLst/>
            <a:cxnLst/>
            <a:rect r="r" b="b" t="t" l="l"/>
            <a:pathLst>
              <a:path h="163417" w="284823">
                <a:moveTo>
                  <a:pt x="0" y="0"/>
                </a:moveTo>
                <a:lnTo>
                  <a:pt x="284823" y="0"/>
                </a:lnTo>
                <a:lnTo>
                  <a:pt x="284823" y="163418"/>
                </a:lnTo>
                <a:lnTo>
                  <a:pt x="0" y="1634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7512140" y="7024443"/>
            <a:ext cx="284823" cy="163417"/>
          </a:xfrm>
          <a:custGeom>
            <a:avLst/>
            <a:gdLst/>
            <a:ahLst/>
            <a:cxnLst/>
            <a:rect r="r" b="b" t="t" l="l"/>
            <a:pathLst>
              <a:path h="163417" w="284823">
                <a:moveTo>
                  <a:pt x="0" y="0"/>
                </a:moveTo>
                <a:lnTo>
                  <a:pt x="284823" y="0"/>
                </a:lnTo>
                <a:lnTo>
                  <a:pt x="284823" y="163418"/>
                </a:lnTo>
                <a:lnTo>
                  <a:pt x="0" y="1634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1028700" y="7613002"/>
            <a:ext cx="6625852" cy="727732"/>
            <a:chOff x="0" y="0"/>
            <a:chExt cx="8834469" cy="970309"/>
          </a:xfrm>
        </p:grpSpPr>
        <p:sp>
          <p:nvSpPr>
            <p:cNvPr name="TextBox 15" id="15"/>
            <p:cNvSpPr txBox="true"/>
            <p:nvPr/>
          </p:nvSpPr>
          <p:spPr>
            <a:xfrm rot="0">
              <a:off x="0" y="0"/>
              <a:ext cx="8834469" cy="457189"/>
            </a:xfrm>
            <a:prstGeom prst="rect">
              <a:avLst/>
            </a:prstGeom>
          </p:spPr>
          <p:txBody>
            <a:bodyPr anchor="t" rtlCol="false" tIns="0" lIns="0" bIns="0" rIns="0">
              <a:spAutoFit/>
            </a:bodyPr>
            <a:lstStyle/>
            <a:p>
              <a:pPr algn="l">
                <a:lnSpc>
                  <a:spcPts val="2760"/>
                </a:lnSpc>
                <a:spcBef>
                  <a:spcPct val="0"/>
                </a:spcBef>
              </a:pPr>
              <a:r>
                <a:rPr lang="en-US" sz="2300" u="sng">
                  <a:solidFill>
                    <a:srgbClr val="3B332B"/>
                  </a:solidFill>
                  <a:latin typeface="Montserrat"/>
                  <a:ea typeface="Montserrat"/>
                  <a:cs typeface="Montserrat"/>
                  <a:sym typeface="Montserrat"/>
                </a:rPr>
                <a:t>of christian women experience sexual shame </a:t>
              </a:r>
            </a:p>
          </p:txBody>
        </p:sp>
        <p:sp>
          <p:nvSpPr>
            <p:cNvPr name="TextBox 16" id="16"/>
            <p:cNvSpPr txBox="true"/>
            <p:nvPr/>
          </p:nvSpPr>
          <p:spPr>
            <a:xfrm rot="0">
              <a:off x="0" y="640147"/>
              <a:ext cx="3333981" cy="330162"/>
            </a:xfrm>
            <a:prstGeom prst="rect">
              <a:avLst/>
            </a:prstGeom>
          </p:spPr>
          <p:txBody>
            <a:bodyPr anchor="t" rtlCol="false" tIns="0" lIns="0" bIns="0" rIns="0">
              <a:spAutoFit/>
            </a:bodyPr>
            <a:lstStyle/>
            <a:p>
              <a:pPr algn="l">
                <a:lnSpc>
                  <a:spcPts val="1980"/>
                </a:lnSpc>
                <a:spcBef>
                  <a:spcPct val="0"/>
                </a:spcBef>
              </a:pPr>
              <a:r>
                <a:rPr lang="en-US" b="true" sz="1650">
                  <a:solidFill>
                    <a:srgbClr val="3B332B"/>
                  </a:solidFill>
                  <a:latin typeface="Montserrat Medium"/>
                  <a:ea typeface="Montserrat Medium"/>
                  <a:cs typeface="Montserrat Medium"/>
                  <a:sym typeface="Montserrat Medium"/>
                </a:rPr>
                <a:t>Henderson et. al., 2026</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1EA"/>
        </a:solidFill>
      </p:bgPr>
    </p:bg>
    <p:spTree>
      <p:nvGrpSpPr>
        <p:cNvPr id="1" name=""/>
        <p:cNvGrpSpPr/>
        <p:nvPr/>
      </p:nvGrpSpPr>
      <p:grpSpPr>
        <a:xfrm>
          <a:off x="0" y="0"/>
          <a:ext cx="0" cy="0"/>
          <a:chOff x="0" y="0"/>
          <a:chExt cx="0" cy="0"/>
        </a:xfrm>
      </p:grpSpPr>
      <p:sp>
        <p:nvSpPr>
          <p:cNvPr name="TextBox 2" id="2"/>
          <p:cNvSpPr txBox="true"/>
          <p:nvPr/>
        </p:nvSpPr>
        <p:spPr>
          <a:xfrm rot="0">
            <a:off x="1284413" y="3462456"/>
            <a:ext cx="8970247" cy="3309620"/>
          </a:xfrm>
          <a:prstGeom prst="rect">
            <a:avLst/>
          </a:prstGeom>
        </p:spPr>
        <p:txBody>
          <a:bodyPr anchor="t" rtlCol="false" tIns="0" lIns="0" bIns="0" rIns="0">
            <a:spAutoFit/>
          </a:bodyPr>
          <a:lstStyle/>
          <a:p>
            <a:pPr algn="l">
              <a:lnSpc>
                <a:spcPts val="3759"/>
              </a:lnSpc>
            </a:pPr>
            <a:r>
              <a:rPr lang="en-US" sz="2349">
                <a:solidFill>
                  <a:srgbClr val="000000"/>
                </a:solidFill>
                <a:latin typeface="Montserrat"/>
                <a:ea typeface="Montserrat"/>
                <a:cs typeface="Montserrat"/>
                <a:sym typeface="Montserrat"/>
              </a:rPr>
              <a:t>Men have little to no control over their sexual urges</a:t>
            </a:r>
          </a:p>
          <a:p>
            <a:pPr algn="l">
              <a:lnSpc>
                <a:spcPts val="3759"/>
              </a:lnSpc>
            </a:pPr>
            <a:r>
              <a:rPr lang="en-US" sz="2349">
                <a:solidFill>
                  <a:srgbClr val="000000"/>
                </a:solidFill>
                <a:latin typeface="Montserrat"/>
                <a:ea typeface="Montserrat"/>
                <a:cs typeface="Montserrat"/>
                <a:sym typeface="Montserrat"/>
              </a:rPr>
              <a:t>Men always want sex and are ready to perform at all times (this is a major factor to consider when dealing with sexual dysfunctions such as erectile dysfunction and premature ejaculation)</a:t>
            </a:r>
          </a:p>
          <a:p>
            <a:pPr algn="l">
              <a:lnSpc>
                <a:spcPts val="3759"/>
              </a:lnSpc>
            </a:pPr>
            <a:r>
              <a:rPr lang="en-US" sz="2349">
                <a:solidFill>
                  <a:srgbClr val="000000"/>
                </a:solidFill>
                <a:latin typeface="Montserrat"/>
                <a:ea typeface="Montserrat"/>
                <a:cs typeface="Montserrat"/>
                <a:sym typeface="Montserrat"/>
              </a:rPr>
              <a:t>Consent does not exist in marriage</a:t>
            </a:r>
          </a:p>
          <a:p>
            <a:pPr algn="l">
              <a:lnSpc>
                <a:spcPts val="3759"/>
              </a:lnSpc>
            </a:pPr>
            <a:r>
              <a:rPr lang="en-US" sz="2349">
                <a:solidFill>
                  <a:srgbClr val="000000"/>
                </a:solidFill>
                <a:latin typeface="Montserrat"/>
                <a:ea typeface="Montserrat"/>
                <a:cs typeface="Montserrat"/>
                <a:sym typeface="Montserrat"/>
              </a:rPr>
              <a:t>Men’s wives are always willing to have sex with them</a:t>
            </a:r>
          </a:p>
        </p:txBody>
      </p:sp>
      <p:sp>
        <p:nvSpPr>
          <p:cNvPr name="TextBox 3" id="3"/>
          <p:cNvSpPr txBox="true"/>
          <p:nvPr/>
        </p:nvSpPr>
        <p:spPr>
          <a:xfrm rot="0">
            <a:off x="2061607" y="8735057"/>
            <a:ext cx="14317113" cy="361913"/>
          </a:xfrm>
          <a:prstGeom prst="rect">
            <a:avLst/>
          </a:prstGeom>
        </p:spPr>
        <p:txBody>
          <a:bodyPr anchor="t" rtlCol="false" tIns="0" lIns="0" bIns="0" rIns="0">
            <a:spAutoFit/>
          </a:bodyPr>
          <a:lstStyle/>
          <a:p>
            <a:pPr algn="ctr">
              <a:lnSpc>
                <a:spcPts val="2819"/>
              </a:lnSpc>
              <a:spcBef>
                <a:spcPct val="0"/>
              </a:spcBef>
            </a:pPr>
            <a:r>
              <a:rPr lang="en-US" b="true" sz="2349">
                <a:solidFill>
                  <a:srgbClr val="3B332B"/>
                </a:solidFill>
                <a:latin typeface="Montserrat Bold"/>
                <a:ea typeface="Montserrat Bold"/>
                <a:cs typeface="Montserrat Bold"/>
                <a:sym typeface="Montserrat Bold"/>
              </a:rPr>
              <a:t>Note: These views do not only impact their sex lives, but can also get men into legal trouble</a:t>
            </a:r>
          </a:p>
        </p:txBody>
      </p:sp>
      <p:sp>
        <p:nvSpPr>
          <p:cNvPr name="TextBox 4" id="4"/>
          <p:cNvSpPr txBox="true"/>
          <p:nvPr/>
        </p:nvSpPr>
        <p:spPr>
          <a:xfrm rot="0">
            <a:off x="857250" y="1143000"/>
            <a:ext cx="16725827" cy="1371567"/>
          </a:xfrm>
          <a:prstGeom prst="rect">
            <a:avLst/>
          </a:prstGeom>
        </p:spPr>
        <p:txBody>
          <a:bodyPr anchor="t" rtlCol="false" tIns="0" lIns="0" bIns="0" rIns="0">
            <a:spAutoFit/>
          </a:bodyPr>
          <a:lstStyle/>
          <a:p>
            <a:pPr algn="l">
              <a:lnSpc>
                <a:spcPts val="5400"/>
              </a:lnSpc>
            </a:pPr>
            <a:r>
              <a:rPr lang="en-US" b="true" sz="4500">
                <a:solidFill>
                  <a:srgbClr val="8C7355"/>
                </a:solidFill>
                <a:latin typeface="Montserrat Bold"/>
                <a:ea typeface="Montserrat Bold"/>
                <a:cs typeface="Montserrat Bold"/>
                <a:sym typeface="Montserrat Bold"/>
              </a:rPr>
              <a:t>PURITY CULTURE FAVORS MEN, BUT THEY ARE ALSO AFFECTED BY HARMFUL TEACHINGS</a:t>
            </a:r>
          </a:p>
        </p:txBody>
      </p:sp>
      <p:sp>
        <p:nvSpPr>
          <p:cNvPr name="Freeform 5" id="5"/>
          <p:cNvSpPr/>
          <p:nvPr/>
        </p:nvSpPr>
        <p:spPr>
          <a:xfrm flipH="false" flipV="false" rot="0">
            <a:off x="714838" y="3700581"/>
            <a:ext cx="284823" cy="163417"/>
          </a:xfrm>
          <a:custGeom>
            <a:avLst/>
            <a:gdLst/>
            <a:ahLst/>
            <a:cxnLst/>
            <a:rect r="r" b="b" t="t" l="l"/>
            <a:pathLst>
              <a:path h="163417" w="284823">
                <a:moveTo>
                  <a:pt x="0" y="0"/>
                </a:moveTo>
                <a:lnTo>
                  <a:pt x="284824" y="0"/>
                </a:lnTo>
                <a:lnTo>
                  <a:pt x="284824" y="163417"/>
                </a:lnTo>
                <a:lnTo>
                  <a:pt x="0" y="1634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4838" y="6060340"/>
            <a:ext cx="284823" cy="163417"/>
          </a:xfrm>
          <a:custGeom>
            <a:avLst/>
            <a:gdLst/>
            <a:ahLst/>
            <a:cxnLst/>
            <a:rect r="r" b="b" t="t" l="l"/>
            <a:pathLst>
              <a:path h="163417" w="284823">
                <a:moveTo>
                  <a:pt x="0" y="0"/>
                </a:moveTo>
                <a:lnTo>
                  <a:pt x="284824" y="0"/>
                </a:lnTo>
                <a:lnTo>
                  <a:pt x="284824" y="163418"/>
                </a:lnTo>
                <a:lnTo>
                  <a:pt x="0" y="1634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714838" y="6541984"/>
            <a:ext cx="284823" cy="163417"/>
          </a:xfrm>
          <a:custGeom>
            <a:avLst/>
            <a:gdLst/>
            <a:ahLst/>
            <a:cxnLst/>
            <a:rect r="r" b="b" t="t" l="l"/>
            <a:pathLst>
              <a:path h="163417" w="284823">
                <a:moveTo>
                  <a:pt x="0" y="0"/>
                </a:moveTo>
                <a:lnTo>
                  <a:pt x="284824" y="0"/>
                </a:lnTo>
                <a:lnTo>
                  <a:pt x="284824" y="163417"/>
                </a:lnTo>
                <a:lnTo>
                  <a:pt x="0" y="1634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714838" y="4122506"/>
            <a:ext cx="284823" cy="163417"/>
          </a:xfrm>
          <a:custGeom>
            <a:avLst/>
            <a:gdLst/>
            <a:ahLst/>
            <a:cxnLst/>
            <a:rect r="r" b="b" t="t" l="l"/>
            <a:pathLst>
              <a:path h="163417" w="284823">
                <a:moveTo>
                  <a:pt x="0" y="0"/>
                </a:moveTo>
                <a:lnTo>
                  <a:pt x="284824" y="0"/>
                </a:lnTo>
                <a:lnTo>
                  <a:pt x="284824" y="163417"/>
                </a:lnTo>
                <a:lnTo>
                  <a:pt x="0" y="1634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2353386" y="3654808"/>
            <a:ext cx="3710952" cy="1857334"/>
          </a:xfrm>
          <a:prstGeom prst="rect">
            <a:avLst/>
          </a:prstGeom>
        </p:spPr>
        <p:txBody>
          <a:bodyPr anchor="t" rtlCol="false" tIns="0" lIns="0" bIns="0" rIns="0">
            <a:spAutoFit/>
          </a:bodyPr>
          <a:lstStyle/>
          <a:p>
            <a:pPr algn="ctr">
              <a:lnSpc>
                <a:spcPts val="13500"/>
              </a:lnSpc>
            </a:pPr>
            <a:r>
              <a:rPr lang="en-US" b="true" sz="15000">
                <a:solidFill>
                  <a:srgbClr val="8C7355"/>
                </a:solidFill>
                <a:latin typeface="Montserrat Bold"/>
                <a:ea typeface="Montserrat Bold"/>
                <a:cs typeface="Montserrat Bold"/>
                <a:sym typeface="Montserrat Bold"/>
              </a:rPr>
              <a:t>10%</a:t>
            </a:r>
          </a:p>
        </p:txBody>
      </p:sp>
      <p:sp>
        <p:nvSpPr>
          <p:cNvPr name="TextBox 10" id="10"/>
          <p:cNvSpPr txBox="true"/>
          <p:nvPr/>
        </p:nvSpPr>
        <p:spPr>
          <a:xfrm rot="0">
            <a:off x="11584992" y="6057774"/>
            <a:ext cx="5247739" cy="714302"/>
          </a:xfrm>
          <a:prstGeom prst="rect">
            <a:avLst/>
          </a:prstGeom>
        </p:spPr>
        <p:txBody>
          <a:bodyPr anchor="t" rtlCol="false" tIns="0" lIns="0" bIns="0" rIns="0">
            <a:spAutoFit/>
          </a:bodyPr>
          <a:lstStyle/>
          <a:p>
            <a:pPr algn="l">
              <a:lnSpc>
                <a:spcPts val="2819"/>
              </a:lnSpc>
              <a:spcBef>
                <a:spcPct val="0"/>
              </a:spcBef>
            </a:pPr>
            <a:r>
              <a:rPr lang="en-US" sz="2349">
                <a:solidFill>
                  <a:srgbClr val="3B332B"/>
                </a:solidFill>
                <a:latin typeface="Montserrat"/>
                <a:ea typeface="Montserrat"/>
                <a:cs typeface="Montserrat"/>
                <a:sym typeface="Montserrat"/>
              </a:rPr>
              <a:t>o</a:t>
            </a:r>
            <a:r>
              <a:rPr lang="en-US" sz="2349">
                <a:solidFill>
                  <a:srgbClr val="3B332B"/>
                </a:solidFill>
                <a:latin typeface="Montserrat"/>
                <a:ea typeface="Montserrat"/>
                <a:cs typeface="Montserrat"/>
                <a:sym typeface="Montserrat"/>
              </a:rPr>
              <a:t>f christian men experience sexual shame (Henderson et. al., 2026)</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1EA"/>
        </a:solidFill>
      </p:bgPr>
    </p:bg>
    <p:spTree>
      <p:nvGrpSpPr>
        <p:cNvPr id="1" name=""/>
        <p:cNvGrpSpPr/>
        <p:nvPr/>
      </p:nvGrpSpPr>
      <p:grpSpPr>
        <a:xfrm>
          <a:off x="0" y="0"/>
          <a:ext cx="0" cy="0"/>
          <a:chOff x="0" y="0"/>
          <a:chExt cx="0" cy="0"/>
        </a:xfrm>
      </p:grpSpPr>
      <p:sp>
        <p:nvSpPr>
          <p:cNvPr name="TextBox 2" id="2"/>
          <p:cNvSpPr txBox="true"/>
          <p:nvPr/>
        </p:nvSpPr>
        <p:spPr>
          <a:xfrm rot="0">
            <a:off x="845630" y="2723769"/>
            <a:ext cx="11372033" cy="704777"/>
          </a:xfrm>
          <a:prstGeom prst="rect">
            <a:avLst/>
          </a:prstGeom>
        </p:spPr>
        <p:txBody>
          <a:bodyPr anchor="t" rtlCol="false" tIns="0" lIns="0" bIns="0" rIns="0">
            <a:spAutoFit/>
          </a:bodyPr>
          <a:lstStyle/>
          <a:p>
            <a:pPr algn="l">
              <a:lnSpc>
                <a:spcPts val="2783"/>
              </a:lnSpc>
            </a:pPr>
            <a:r>
              <a:rPr lang="en-US" sz="2319">
                <a:solidFill>
                  <a:srgbClr val="000000"/>
                </a:solidFill>
                <a:latin typeface="Montserrat"/>
                <a:ea typeface="Montserrat"/>
                <a:cs typeface="Montserrat"/>
                <a:sym typeface="Montserrat"/>
              </a:rPr>
              <a:t>Homosexuality is seen as an “abomination” and treated as even more serious a sin.</a:t>
            </a:r>
          </a:p>
        </p:txBody>
      </p:sp>
      <p:sp>
        <p:nvSpPr>
          <p:cNvPr name="TextBox 3" id="3"/>
          <p:cNvSpPr txBox="true"/>
          <p:nvPr/>
        </p:nvSpPr>
        <p:spPr>
          <a:xfrm rot="0">
            <a:off x="389405" y="685808"/>
            <a:ext cx="16725827" cy="685784"/>
          </a:xfrm>
          <a:prstGeom prst="rect">
            <a:avLst/>
          </a:prstGeom>
        </p:spPr>
        <p:txBody>
          <a:bodyPr anchor="t" rtlCol="false" tIns="0" lIns="0" bIns="0" rIns="0">
            <a:spAutoFit/>
          </a:bodyPr>
          <a:lstStyle/>
          <a:p>
            <a:pPr algn="l">
              <a:lnSpc>
                <a:spcPts val="5400"/>
              </a:lnSpc>
            </a:pPr>
            <a:r>
              <a:rPr lang="en-US" b="true" sz="4500">
                <a:solidFill>
                  <a:srgbClr val="8C7355"/>
                </a:solidFill>
                <a:latin typeface="Montserrat Bold"/>
                <a:ea typeface="Montserrat Bold"/>
                <a:cs typeface="Montserrat Bold"/>
                <a:sym typeface="Montserrat Bold"/>
              </a:rPr>
              <a:t>WHAT ABOUT THE LGBTQ+ COMMUNITY?</a:t>
            </a:r>
          </a:p>
        </p:txBody>
      </p:sp>
      <p:sp>
        <p:nvSpPr>
          <p:cNvPr name="TextBox 4" id="4"/>
          <p:cNvSpPr txBox="true"/>
          <p:nvPr/>
        </p:nvSpPr>
        <p:spPr>
          <a:xfrm rot="0">
            <a:off x="1484925" y="6729247"/>
            <a:ext cx="11372033" cy="1057165"/>
          </a:xfrm>
          <a:prstGeom prst="rect">
            <a:avLst/>
          </a:prstGeom>
        </p:spPr>
        <p:txBody>
          <a:bodyPr anchor="t" rtlCol="false" tIns="0" lIns="0" bIns="0" rIns="0">
            <a:spAutoFit/>
          </a:bodyPr>
          <a:lstStyle/>
          <a:p>
            <a:pPr algn="l">
              <a:lnSpc>
                <a:spcPts val="2783"/>
              </a:lnSpc>
            </a:pPr>
            <a:r>
              <a:rPr lang="en-US" sz="2319">
                <a:solidFill>
                  <a:srgbClr val="000000"/>
                </a:solidFill>
                <a:latin typeface="Montserrat"/>
                <a:ea typeface="Montserrat"/>
                <a:cs typeface="Montserrat"/>
                <a:sym typeface="Montserrat"/>
              </a:rPr>
              <a:t>Homosexuality is intrinsically disordered and evil</a:t>
            </a:r>
          </a:p>
          <a:p>
            <a:pPr algn="l">
              <a:lnSpc>
                <a:spcPts val="2783"/>
              </a:lnSpc>
            </a:pPr>
            <a:r>
              <a:rPr lang="en-US" sz="2319">
                <a:solidFill>
                  <a:srgbClr val="000000"/>
                </a:solidFill>
                <a:latin typeface="Montserrat"/>
                <a:ea typeface="Montserrat"/>
                <a:cs typeface="Montserrat"/>
                <a:sym typeface="Montserrat"/>
              </a:rPr>
              <a:t>Because homosexuality does not allow for biological children, it is not a “real marriage”</a:t>
            </a:r>
          </a:p>
        </p:txBody>
      </p:sp>
      <p:sp>
        <p:nvSpPr>
          <p:cNvPr name="TextBox 5" id="5"/>
          <p:cNvSpPr txBox="true"/>
          <p:nvPr/>
        </p:nvSpPr>
        <p:spPr>
          <a:xfrm rot="0">
            <a:off x="1484925" y="4216966"/>
            <a:ext cx="11372033" cy="1961978"/>
          </a:xfrm>
          <a:prstGeom prst="rect">
            <a:avLst/>
          </a:prstGeom>
        </p:spPr>
        <p:txBody>
          <a:bodyPr anchor="t" rtlCol="false" tIns="0" lIns="0" bIns="0" rIns="0">
            <a:spAutoFit/>
          </a:bodyPr>
          <a:lstStyle/>
          <a:p>
            <a:pPr algn="l">
              <a:lnSpc>
                <a:spcPts val="2783"/>
              </a:lnSpc>
            </a:pPr>
            <a:r>
              <a:rPr lang="en-US" sz="2319">
                <a:solidFill>
                  <a:srgbClr val="000000"/>
                </a:solidFill>
                <a:latin typeface="Montserrat"/>
                <a:ea typeface="Montserrat"/>
                <a:cs typeface="Montserrat"/>
                <a:sym typeface="Montserrat"/>
              </a:rPr>
              <a:t>In the Old Testament, the book of Leviticus</a:t>
            </a:r>
            <a:r>
              <a:rPr lang="en-US" sz="2319" b="true">
                <a:solidFill>
                  <a:srgbClr val="000000"/>
                </a:solidFill>
                <a:latin typeface="Montserrat Bold"/>
                <a:ea typeface="Montserrat Bold"/>
                <a:cs typeface="Montserrat Bold"/>
                <a:sym typeface="Montserrat Bold"/>
              </a:rPr>
              <a:t> </a:t>
            </a:r>
            <a:r>
              <a:rPr lang="en-US" sz="2319" i="true">
                <a:solidFill>
                  <a:srgbClr val="BA0C2F"/>
                </a:solidFill>
                <a:latin typeface="Montserrat Italics"/>
                <a:ea typeface="Montserrat Italics"/>
                <a:cs typeface="Montserrat Italics"/>
                <a:sym typeface="Montserrat Italics"/>
              </a:rPr>
              <a:t>“If a man practices homosexuality, both men have committed a detestable act. They must both be put to death, for they are guilty of a capital offense.”</a:t>
            </a:r>
            <a:r>
              <a:rPr lang="en-US" sz="2319" i="true" b="true">
                <a:solidFill>
                  <a:srgbClr val="000000"/>
                </a:solidFill>
                <a:latin typeface="Montserrat Bold Italics"/>
                <a:ea typeface="Montserrat Bold Italics"/>
                <a:cs typeface="Montserrat Bold Italics"/>
                <a:sym typeface="Montserrat Bold Italics"/>
              </a:rPr>
              <a:t> </a:t>
            </a:r>
          </a:p>
          <a:p>
            <a:pPr algn="l">
              <a:lnSpc>
                <a:spcPts val="2783"/>
              </a:lnSpc>
            </a:pPr>
          </a:p>
          <a:p>
            <a:pPr algn="l">
              <a:lnSpc>
                <a:spcPts val="2184"/>
              </a:lnSpc>
            </a:pPr>
            <a:r>
              <a:rPr lang="en-US" sz="1820" i="true">
                <a:solidFill>
                  <a:srgbClr val="000000"/>
                </a:solidFill>
                <a:latin typeface="Montserrat Italics"/>
                <a:ea typeface="Montserrat Italics"/>
                <a:cs typeface="Montserrat Italics"/>
                <a:sym typeface="Montserrat Italics"/>
              </a:rPr>
              <a:t>(This may be a mistranslation, by the way. Many scholars believe that the original Hebrew text was talking about pedophilia, not homosexuality.)</a:t>
            </a:r>
          </a:p>
        </p:txBody>
      </p:sp>
      <p:sp>
        <p:nvSpPr>
          <p:cNvPr name="Freeform 6" id="6"/>
          <p:cNvSpPr/>
          <p:nvPr/>
        </p:nvSpPr>
        <p:spPr>
          <a:xfrm flipH="false" flipV="false" rot="0">
            <a:off x="1028700" y="4331266"/>
            <a:ext cx="284823" cy="163417"/>
          </a:xfrm>
          <a:custGeom>
            <a:avLst/>
            <a:gdLst/>
            <a:ahLst/>
            <a:cxnLst/>
            <a:rect r="r" b="b" t="t" l="l"/>
            <a:pathLst>
              <a:path h="163417" w="284823">
                <a:moveTo>
                  <a:pt x="0" y="0"/>
                </a:moveTo>
                <a:lnTo>
                  <a:pt x="284823" y="0"/>
                </a:lnTo>
                <a:lnTo>
                  <a:pt x="284823" y="163417"/>
                </a:lnTo>
                <a:lnTo>
                  <a:pt x="0" y="1634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028700" y="6849112"/>
            <a:ext cx="284823" cy="163417"/>
          </a:xfrm>
          <a:custGeom>
            <a:avLst/>
            <a:gdLst/>
            <a:ahLst/>
            <a:cxnLst/>
            <a:rect r="r" b="b" t="t" l="l"/>
            <a:pathLst>
              <a:path h="163417" w="284823">
                <a:moveTo>
                  <a:pt x="0" y="0"/>
                </a:moveTo>
                <a:lnTo>
                  <a:pt x="284823" y="0"/>
                </a:lnTo>
                <a:lnTo>
                  <a:pt x="284823" y="163417"/>
                </a:lnTo>
                <a:lnTo>
                  <a:pt x="0" y="1634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4F1E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634204" y="2850575"/>
            <a:ext cx="5715000" cy="5715000"/>
            <a:chOff x="0" y="0"/>
            <a:chExt cx="7620000" cy="7620000"/>
          </a:xfrm>
        </p:grpSpPr>
        <p:sp>
          <p:nvSpPr>
            <p:cNvPr name="Freeform 5" id="5" descr="image.png"/>
            <p:cNvSpPr/>
            <p:nvPr/>
          </p:nvSpPr>
          <p:spPr>
            <a:xfrm flipH="false" flipV="false" rot="0">
              <a:off x="0" y="0"/>
              <a:ext cx="7620000" cy="7620000"/>
            </a:xfrm>
            <a:custGeom>
              <a:avLst/>
              <a:gdLst/>
              <a:ahLst/>
              <a:cxnLst/>
              <a:rect r="r" b="b" t="t" l="l"/>
              <a:pathLst>
                <a:path h="7620000" w="7620000">
                  <a:moveTo>
                    <a:pt x="0" y="0"/>
                  </a:moveTo>
                  <a:lnTo>
                    <a:pt x="7620000" y="0"/>
                  </a:lnTo>
                  <a:lnTo>
                    <a:pt x="7620000" y="7620000"/>
                  </a:lnTo>
                  <a:lnTo>
                    <a:pt x="0" y="7620000"/>
                  </a:lnTo>
                  <a:lnTo>
                    <a:pt x="0" y="0"/>
                  </a:lnTo>
                  <a:close/>
                </a:path>
              </a:pathLst>
            </a:custGeom>
            <a:blipFill>
              <a:blip r:embed="rId3"/>
              <a:stretch>
                <a:fillRect l="0" t="0" r="-250" b="0"/>
              </a:stretch>
            </a:blipFill>
          </p:spPr>
        </p:sp>
      </p:grpSp>
      <p:sp>
        <p:nvSpPr>
          <p:cNvPr name="TextBox 6" id="6"/>
          <p:cNvSpPr txBox="true"/>
          <p:nvPr/>
        </p:nvSpPr>
        <p:spPr>
          <a:xfrm rot="0">
            <a:off x="9501188" y="2364800"/>
            <a:ext cx="4355788" cy="476250"/>
          </a:xfrm>
          <a:prstGeom prst="rect">
            <a:avLst/>
          </a:prstGeom>
        </p:spPr>
        <p:txBody>
          <a:bodyPr anchor="t" rtlCol="false" tIns="0" lIns="0" bIns="0" rIns="0">
            <a:spAutoFit/>
          </a:bodyPr>
          <a:lstStyle/>
          <a:p>
            <a:pPr algn="l">
              <a:lnSpc>
                <a:spcPts val="3779"/>
              </a:lnSpc>
            </a:pPr>
            <a:r>
              <a:rPr lang="en-US" b="true" sz="3150">
                <a:solidFill>
                  <a:srgbClr val="6D5B45"/>
                </a:solidFill>
                <a:latin typeface="Montserrat Medium"/>
                <a:ea typeface="Montserrat Medium"/>
                <a:cs typeface="Montserrat Medium"/>
                <a:sym typeface="Montserrat Medium"/>
              </a:rPr>
              <a:t>Reframing Pathology</a:t>
            </a:r>
          </a:p>
        </p:txBody>
      </p:sp>
      <p:sp>
        <p:nvSpPr>
          <p:cNvPr name="TextBox 7" id="7"/>
          <p:cNvSpPr txBox="true"/>
          <p:nvPr/>
        </p:nvSpPr>
        <p:spPr>
          <a:xfrm rot="0">
            <a:off x="9501188" y="3045838"/>
            <a:ext cx="7929562" cy="2386584"/>
          </a:xfrm>
          <a:prstGeom prst="rect">
            <a:avLst/>
          </a:prstGeom>
        </p:spPr>
        <p:txBody>
          <a:bodyPr anchor="t" rtlCol="false" tIns="0" lIns="0" bIns="0" rIns="0">
            <a:spAutoFit/>
          </a:bodyPr>
          <a:lstStyle/>
          <a:p>
            <a:pPr algn="l">
              <a:lnSpc>
                <a:spcPts val="3887"/>
              </a:lnSpc>
            </a:pPr>
            <a:r>
              <a:rPr lang="en-US" sz="2025">
                <a:solidFill>
                  <a:srgbClr val="5C5248"/>
                </a:solidFill>
                <a:latin typeface="Open Sans"/>
                <a:ea typeface="Open Sans"/>
                <a:cs typeface="Open Sans"/>
                <a:sym typeface="Open Sans"/>
              </a:rPr>
              <a:t>Standard clinical practice often pathologizes the individual. We diagnose "female sexual interest/arousal disorder" or "delayed ejaculation" and place the locus of the problem firmly on the client's body. Research shows 22% of Americans are or were raised in a strict religious home. (Alper et. al, 2025.)</a:t>
            </a:r>
          </a:p>
        </p:txBody>
      </p:sp>
      <p:sp>
        <p:nvSpPr>
          <p:cNvPr name="TextBox 8" id="8"/>
          <p:cNvSpPr txBox="true"/>
          <p:nvPr/>
        </p:nvSpPr>
        <p:spPr>
          <a:xfrm rot="0">
            <a:off x="9501188" y="5759662"/>
            <a:ext cx="7929562" cy="2611488"/>
          </a:xfrm>
          <a:prstGeom prst="rect">
            <a:avLst/>
          </a:prstGeom>
        </p:spPr>
        <p:txBody>
          <a:bodyPr anchor="t" rtlCol="false" tIns="0" lIns="0" bIns="0" rIns="0">
            <a:spAutoFit/>
          </a:bodyPr>
          <a:lstStyle/>
          <a:p>
            <a:pPr algn="l">
              <a:lnSpc>
                <a:spcPts val="3887"/>
              </a:lnSpc>
            </a:pPr>
            <a:r>
              <a:rPr lang="en-US" sz="2025">
                <a:solidFill>
                  <a:srgbClr val="5C5248"/>
                </a:solidFill>
                <a:latin typeface="Open Sans"/>
                <a:ea typeface="Open Sans"/>
                <a:cs typeface="Open Sans"/>
                <a:sym typeface="Open Sans"/>
              </a:rPr>
              <a:t>A culturally competent, trauma-informed approach recognizes that for those raised in highly controlling religious systems, sexual avoidance or pain is not an individual dysfunction—it is a </a:t>
            </a:r>
            <a:r>
              <a:rPr lang="en-US" b="true" sz="2025">
                <a:solidFill>
                  <a:srgbClr val="5C5248"/>
                </a:solidFill>
                <a:latin typeface="Open Sans Bold"/>
                <a:ea typeface="Open Sans Bold"/>
                <a:cs typeface="Open Sans Bold"/>
                <a:sym typeface="Open Sans Bold"/>
              </a:rPr>
              <a:t>highly effective survival response</a:t>
            </a:r>
            <a:r>
              <a:rPr lang="en-US" sz="2025">
                <a:solidFill>
                  <a:srgbClr val="5C5248"/>
                </a:solidFill>
                <a:latin typeface="Open Sans"/>
                <a:ea typeface="Open Sans"/>
                <a:cs typeface="Open Sans"/>
                <a:sym typeface="Open Sans"/>
              </a:rPr>
              <a:t>. Treatment must shift from "fixing the broken body" to safely dismantling the oppressive systems that taught the body to fear its own pleasure.</a:t>
            </a:r>
          </a:p>
        </p:txBody>
      </p:sp>
      <p:sp>
        <p:nvSpPr>
          <p:cNvPr name="TextBox 9" id="9"/>
          <p:cNvSpPr txBox="true"/>
          <p:nvPr/>
        </p:nvSpPr>
        <p:spPr>
          <a:xfrm rot="0">
            <a:off x="857250" y="857250"/>
            <a:ext cx="6265996" cy="685784"/>
          </a:xfrm>
          <a:prstGeom prst="rect">
            <a:avLst/>
          </a:prstGeom>
        </p:spPr>
        <p:txBody>
          <a:bodyPr anchor="t" rtlCol="false" tIns="0" lIns="0" bIns="0" rIns="0">
            <a:spAutoFit/>
          </a:bodyPr>
          <a:lstStyle/>
          <a:p>
            <a:pPr algn="l">
              <a:lnSpc>
                <a:spcPts val="5400"/>
              </a:lnSpc>
            </a:pPr>
            <a:r>
              <a:rPr lang="en-US" b="true" sz="4500">
                <a:solidFill>
                  <a:srgbClr val="8C7355"/>
                </a:solidFill>
                <a:latin typeface="Montserrat Bold"/>
                <a:ea typeface="Montserrat Bold"/>
                <a:cs typeface="Montserrat Bold"/>
                <a:sym typeface="Montserrat Bold"/>
              </a:rPr>
              <a:t>CULTURAL CRITIQUE</a:t>
            </a:r>
          </a:p>
        </p:txBody>
      </p:sp>
      <p:sp>
        <p:nvSpPr>
          <p:cNvPr name="TextBox 10" id="10"/>
          <p:cNvSpPr txBox="true"/>
          <p:nvPr/>
        </p:nvSpPr>
        <p:spPr>
          <a:xfrm rot="0">
            <a:off x="2140525" y="4336457"/>
            <a:ext cx="4702356" cy="2743237"/>
          </a:xfrm>
          <a:prstGeom prst="rect">
            <a:avLst/>
          </a:prstGeom>
        </p:spPr>
        <p:txBody>
          <a:bodyPr anchor="t" rtlCol="false" tIns="0" lIns="0" bIns="0" rIns="0">
            <a:spAutoFit/>
          </a:bodyPr>
          <a:lstStyle/>
          <a:p>
            <a:pPr algn="ctr">
              <a:lnSpc>
                <a:spcPts val="21600"/>
              </a:lnSpc>
            </a:pPr>
            <a:r>
              <a:rPr lang="en-US" b="true" sz="18000">
                <a:solidFill>
                  <a:srgbClr val="8C7355"/>
                </a:solidFill>
                <a:latin typeface="Montserrat Bold"/>
                <a:ea typeface="Montserrat Bold"/>
                <a:cs typeface="Montserrat Bold"/>
                <a:sym typeface="Montserrat Bold"/>
              </a:rPr>
              <a:t>22%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4F1EA"/>
        </a:solidFill>
      </p:bgPr>
    </p:bg>
    <p:spTree>
      <p:nvGrpSpPr>
        <p:cNvPr id="1" name=""/>
        <p:cNvGrpSpPr/>
        <p:nvPr/>
      </p:nvGrpSpPr>
      <p:grpSpPr>
        <a:xfrm>
          <a:off x="0" y="0"/>
          <a:ext cx="0" cy="0"/>
          <a:chOff x="0" y="0"/>
          <a:chExt cx="0" cy="0"/>
        </a:xfrm>
      </p:grpSpPr>
      <p:grpSp>
        <p:nvGrpSpPr>
          <p:cNvPr name="Group 2" id="2"/>
          <p:cNvGrpSpPr/>
          <p:nvPr/>
        </p:nvGrpSpPr>
        <p:grpSpPr>
          <a:xfrm rot="0">
            <a:off x="1993106" y="2121694"/>
            <a:ext cx="14301788" cy="1437237"/>
            <a:chOff x="0" y="0"/>
            <a:chExt cx="19069050" cy="1916316"/>
          </a:xfrm>
        </p:grpSpPr>
        <p:sp>
          <p:nvSpPr>
            <p:cNvPr name="Freeform 3" id="3"/>
            <p:cNvSpPr/>
            <p:nvPr/>
          </p:nvSpPr>
          <p:spPr>
            <a:xfrm flipH="false" flipV="false" rot="0">
              <a:off x="0" y="0"/>
              <a:ext cx="19069050" cy="1916303"/>
            </a:xfrm>
            <a:custGeom>
              <a:avLst/>
              <a:gdLst/>
              <a:ahLst/>
              <a:cxnLst/>
              <a:rect r="r" b="b" t="t" l="l"/>
              <a:pathLst>
                <a:path h="1916303" w="19069050">
                  <a:moveTo>
                    <a:pt x="0" y="153924"/>
                  </a:moveTo>
                  <a:cubicBezTo>
                    <a:pt x="0" y="68961"/>
                    <a:pt x="68961" y="0"/>
                    <a:pt x="153924" y="0"/>
                  </a:cubicBezTo>
                  <a:lnTo>
                    <a:pt x="18915126" y="0"/>
                  </a:lnTo>
                  <a:cubicBezTo>
                    <a:pt x="19000090" y="0"/>
                    <a:pt x="19069050" y="68961"/>
                    <a:pt x="19069050" y="153924"/>
                  </a:cubicBezTo>
                  <a:lnTo>
                    <a:pt x="19069050" y="1762379"/>
                  </a:lnTo>
                  <a:cubicBezTo>
                    <a:pt x="19069050" y="1847342"/>
                    <a:pt x="19000090" y="1916303"/>
                    <a:pt x="18915126" y="1916303"/>
                  </a:cubicBezTo>
                  <a:lnTo>
                    <a:pt x="153924" y="1916303"/>
                  </a:lnTo>
                  <a:cubicBezTo>
                    <a:pt x="68961" y="1916303"/>
                    <a:pt x="0" y="1847342"/>
                    <a:pt x="0" y="1762379"/>
                  </a:cubicBezTo>
                  <a:close/>
                </a:path>
              </a:pathLst>
            </a:custGeom>
            <a:solidFill>
              <a:srgbClr val="FFFFFF"/>
            </a:solidFill>
            <a:ln w="14288" cap="sq">
              <a:solidFill>
                <a:srgbClr val="EBE5DA"/>
              </a:solidFill>
              <a:prstDash val="solid"/>
              <a:miter/>
            </a:ln>
          </p:spPr>
        </p:sp>
      </p:grpSp>
      <p:sp>
        <p:nvSpPr>
          <p:cNvPr name="TextBox 4" id="4"/>
          <p:cNvSpPr txBox="true"/>
          <p:nvPr/>
        </p:nvSpPr>
        <p:spPr>
          <a:xfrm rot="0">
            <a:off x="2857500" y="2271713"/>
            <a:ext cx="13144500" cy="994324"/>
          </a:xfrm>
          <a:prstGeom prst="rect">
            <a:avLst/>
          </a:prstGeom>
        </p:spPr>
        <p:txBody>
          <a:bodyPr anchor="t" rtlCol="false" tIns="0" lIns="0" bIns="0" rIns="0">
            <a:spAutoFit/>
          </a:bodyPr>
          <a:lstStyle/>
          <a:p>
            <a:pPr algn="l">
              <a:lnSpc>
                <a:spcPts val="3887"/>
              </a:lnSpc>
            </a:pPr>
            <a:r>
              <a:rPr lang="en-US" b="true" sz="2025">
                <a:solidFill>
                  <a:srgbClr val="3B332B"/>
                </a:solidFill>
                <a:latin typeface="Open Sans Bold"/>
                <a:ea typeface="Open Sans Bold"/>
                <a:cs typeface="Open Sans Bold"/>
                <a:sym typeface="Open Sans Bold"/>
              </a:rPr>
              <a:t>EMDR &amp; Brainspotting:</a:t>
            </a:r>
            <a:r>
              <a:rPr lang="en-US" sz="2025">
                <a:solidFill>
                  <a:srgbClr val="5C5248"/>
                </a:solidFill>
                <a:latin typeface="Open Sans"/>
                <a:ea typeface="Open Sans"/>
                <a:cs typeface="Open Sans"/>
                <a:sym typeface="Open Sans"/>
              </a:rPr>
              <a:t> Talk therapy alone often cannot resolve religious trauma because the shame lives physically in the nervous system. Bilateral stimulation helps process deeply embedded fear responses.</a:t>
            </a:r>
          </a:p>
        </p:txBody>
      </p:sp>
      <p:grpSp>
        <p:nvGrpSpPr>
          <p:cNvPr name="Group 5" id="5"/>
          <p:cNvGrpSpPr/>
          <p:nvPr/>
        </p:nvGrpSpPr>
        <p:grpSpPr>
          <a:xfrm rot="0">
            <a:off x="1993106" y="3830393"/>
            <a:ext cx="14301788" cy="1437237"/>
            <a:chOff x="0" y="0"/>
            <a:chExt cx="19069050" cy="1916316"/>
          </a:xfrm>
        </p:grpSpPr>
        <p:sp>
          <p:nvSpPr>
            <p:cNvPr name="Freeform 6" id="6"/>
            <p:cNvSpPr/>
            <p:nvPr/>
          </p:nvSpPr>
          <p:spPr>
            <a:xfrm flipH="false" flipV="false" rot="0">
              <a:off x="0" y="0"/>
              <a:ext cx="19069050" cy="1916303"/>
            </a:xfrm>
            <a:custGeom>
              <a:avLst/>
              <a:gdLst/>
              <a:ahLst/>
              <a:cxnLst/>
              <a:rect r="r" b="b" t="t" l="l"/>
              <a:pathLst>
                <a:path h="1916303" w="19069050">
                  <a:moveTo>
                    <a:pt x="0" y="153924"/>
                  </a:moveTo>
                  <a:cubicBezTo>
                    <a:pt x="0" y="68961"/>
                    <a:pt x="68961" y="0"/>
                    <a:pt x="153924" y="0"/>
                  </a:cubicBezTo>
                  <a:lnTo>
                    <a:pt x="18915126" y="0"/>
                  </a:lnTo>
                  <a:cubicBezTo>
                    <a:pt x="19000090" y="0"/>
                    <a:pt x="19069050" y="68961"/>
                    <a:pt x="19069050" y="153924"/>
                  </a:cubicBezTo>
                  <a:lnTo>
                    <a:pt x="19069050" y="1762379"/>
                  </a:lnTo>
                  <a:cubicBezTo>
                    <a:pt x="19069050" y="1847342"/>
                    <a:pt x="19000090" y="1916303"/>
                    <a:pt x="18915126" y="1916303"/>
                  </a:cubicBezTo>
                  <a:lnTo>
                    <a:pt x="153924" y="1916303"/>
                  </a:lnTo>
                  <a:cubicBezTo>
                    <a:pt x="68961" y="1916303"/>
                    <a:pt x="0" y="1847342"/>
                    <a:pt x="0" y="1762379"/>
                  </a:cubicBezTo>
                  <a:close/>
                </a:path>
              </a:pathLst>
            </a:custGeom>
            <a:solidFill>
              <a:srgbClr val="FFFFFF"/>
            </a:solidFill>
            <a:ln w="14288" cap="sq">
              <a:solidFill>
                <a:srgbClr val="EBE5DA"/>
              </a:solidFill>
              <a:prstDash val="solid"/>
              <a:miter/>
            </a:ln>
          </p:spPr>
        </p:sp>
      </p:grpSp>
      <p:sp>
        <p:nvSpPr>
          <p:cNvPr name="TextBox 7" id="7"/>
          <p:cNvSpPr txBox="true"/>
          <p:nvPr/>
        </p:nvSpPr>
        <p:spPr>
          <a:xfrm rot="0">
            <a:off x="2857500" y="3980412"/>
            <a:ext cx="13144500" cy="994324"/>
          </a:xfrm>
          <a:prstGeom prst="rect">
            <a:avLst/>
          </a:prstGeom>
        </p:spPr>
        <p:txBody>
          <a:bodyPr anchor="t" rtlCol="false" tIns="0" lIns="0" bIns="0" rIns="0">
            <a:spAutoFit/>
          </a:bodyPr>
          <a:lstStyle/>
          <a:p>
            <a:pPr algn="l">
              <a:lnSpc>
                <a:spcPts val="3887"/>
              </a:lnSpc>
            </a:pPr>
            <a:r>
              <a:rPr lang="en-US" b="true" sz="2025">
                <a:solidFill>
                  <a:srgbClr val="3B332B"/>
                </a:solidFill>
                <a:latin typeface="Open Sans Bold"/>
                <a:ea typeface="Open Sans Bold"/>
                <a:cs typeface="Open Sans Bold"/>
                <a:sym typeface="Open Sans Bold"/>
              </a:rPr>
              <a:t>Somatic Experiencing:</a:t>
            </a:r>
            <a:r>
              <a:rPr lang="en-US" sz="2025">
                <a:solidFill>
                  <a:srgbClr val="5C5248"/>
                </a:solidFill>
                <a:latin typeface="Open Sans"/>
                <a:ea typeface="Open Sans"/>
                <a:cs typeface="Open Sans"/>
                <a:sym typeface="Open Sans"/>
              </a:rPr>
              <a:t> Working slowly with the body to help the nervous system recognize that intimacy, pleasure, and arousal are safe in the present moment, contrary to childhood programming.</a:t>
            </a:r>
          </a:p>
        </p:txBody>
      </p:sp>
      <p:grpSp>
        <p:nvGrpSpPr>
          <p:cNvPr name="Group 8" id="8"/>
          <p:cNvGrpSpPr/>
          <p:nvPr/>
        </p:nvGrpSpPr>
        <p:grpSpPr>
          <a:xfrm rot="0">
            <a:off x="1993106" y="5539083"/>
            <a:ext cx="14301788" cy="1437237"/>
            <a:chOff x="0" y="0"/>
            <a:chExt cx="19069050" cy="1916316"/>
          </a:xfrm>
        </p:grpSpPr>
        <p:sp>
          <p:nvSpPr>
            <p:cNvPr name="Freeform 9" id="9"/>
            <p:cNvSpPr/>
            <p:nvPr/>
          </p:nvSpPr>
          <p:spPr>
            <a:xfrm flipH="false" flipV="false" rot="0">
              <a:off x="0" y="0"/>
              <a:ext cx="19069050" cy="1916303"/>
            </a:xfrm>
            <a:custGeom>
              <a:avLst/>
              <a:gdLst/>
              <a:ahLst/>
              <a:cxnLst/>
              <a:rect r="r" b="b" t="t" l="l"/>
              <a:pathLst>
                <a:path h="1916303" w="19069050">
                  <a:moveTo>
                    <a:pt x="0" y="153924"/>
                  </a:moveTo>
                  <a:cubicBezTo>
                    <a:pt x="0" y="68961"/>
                    <a:pt x="68961" y="0"/>
                    <a:pt x="153924" y="0"/>
                  </a:cubicBezTo>
                  <a:lnTo>
                    <a:pt x="18915126" y="0"/>
                  </a:lnTo>
                  <a:cubicBezTo>
                    <a:pt x="19000090" y="0"/>
                    <a:pt x="19069050" y="68961"/>
                    <a:pt x="19069050" y="153924"/>
                  </a:cubicBezTo>
                  <a:lnTo>
                    <a:pt x="19069050" y="1762379"/>
                  </a:lnTo>
                  <a:cubicBezTo>
                    <a:pt x="19069050" y="1847342"/>
                    <a:pt x="19000090" y="1916303"/>
                    <a:pt x="18915126" y="1916303"/>
                  </a:cubicBezTo>
                  <a:lnTo>
                    <a:pt x="153924" y="1916303"/>
                  </a:lnTo>
                  <a:cubicBezTo>
                    <a:pt x="68961" y="1916303"/>
                    <a:pt x="0" y="1847342"/>
                    <a:pt x="0" y="1762379"/>
                  </a:cubicBezTo>
                  <a:close/>
                </a:path>
              </a:pathLst>
            </a:custGeom>
            <a:solidFill>
              <a:srgbClr val="FFFFFF"/>
            </a:solidFill>
            <a:ln w="14288" cap="sq">
              <a:solidFill>
                <a:srgbClr val="EBE5DA"/>
              </a:solidFill>
              <a:prstDash val="solid"/>
              <a:miter/>
            </a:ln>
          </p:spPr>
        </p:sp>
      </p:grpSp>
      <p:sp>
        <p:nvSpPr>
          <p:cNvPr name="TextBox 10" id="10"/>
          <p:cNvSpPr txBox="true"/>
          <p:nvPr/>
        </p:nvSpPr>
        <p:spPr>
          <a:xfrm rot="0">
            <a:off x="2857500" y="5689102"/>
            <a:ext cx="13144500" cy="994324"/>
          </a:xfrm>
          <a:prstGeom prst="rect">
            <a:avLst/>
          </a:prstGeom>
        </p:spPr>
        <p:txBody>
          <a:bodyPr anchor="t" rtlCol="false" tIns="0" lIns="0" bIns="0" rIns="0">
            <a:spAutoFit/>
          </a:bodyPr>
          <a:lstStyle/>
          <a:p>
            <a:pPr algn="l">
              <a:lnSpc>
                <a:spcPts val="3887"/>
              </a:lnSpc>
            </a:pPr>
            <a:r>
              <a:rPr lang="en-US" b="true" sz="2025">
                <a:solidFill>
                  <a:srgbClr val="3B332B"/>
                </a:solidFill>
                <a:latin typeface="Open Sans Bold"/>
                <a:ea typeface="Open Sans Bold"/>
                <a:cs typeface="Open Sans Bold"/>
                <a:sym typeface="Open Sans Bold"/>
              </a:rPr>
              <a:t>Cognitive Restructuring:</a:t>
            </a:r>
            <a:r>
              <a:rPr lang="en-US" sz="2025">
                <a:solidFill>
                  <a:srgbClr val="5C5248"/>
                </a:solidFill>
                <a:latin typeface="Open Sans"/>
                <a:ea typeface="Open Sans"/>
                <a:cs typeface="Open Sans"/>
                <a:sym typeface="Open Sans"/>
              </a:rPr>
              <a:t> Identifying deeply ingrained "sexual scripts" and systematically evaluating them for utility, truth, and harm, allowing the client to draft their own authentic sexual ethic.</a:t>
            </a:r>
          </a:p>
        </p:txBody>
      </p:sp>
      <p:grpSp>
        <p:nvGrpSpPr>
          <p:cNvPr name="Group 11" id="11"/>
          <p:cNvGrpSpPr/>
          <p:nvPr/>
        </p:nvGrpSpPr>
        <p:grpSpPr>
          <a:xfrm rot="0">
            <a:off x="1993106" y="7247782"/>
            <a:ext cx="14301788" cy="1437237"/>
            <a:chOff x="0" y="0"/>
            <a:chExt cx="19069050" cy="1916316"/>
          </a:xfrm>
        </p:grpSpPr>
        <p:sp>
          <p:nvSpPr>
            <p:cNvPr name="Freeform 12" id="12"/>
            <p:cNvSpPr/>
            <p:nvPr/>
          </p:nvSpPr>
          <p:spPr>
            <a:xfrm flipH="false" flipV="false" rot="0">
              <a:off x="0" y="0"/>
              <a:ext cx="19069050" cy="1916303"/>
            </a:xfrm>
            <a:custGeom>
              <a:avLst/>
              <a:gdLst/>
              <a:ahLst/>
              <a:cxnLst/>
              <a:rect r="r" b="b" t="t" l="l"/>
              <a:pathLst>
                <a:path h="1916303" w="19069050">
                  <a:moveTo>
                    <a:pt x="0" y="153924"/>
                  </a:moveTo>
                  <a:cubicBezTo>
                    <a:pt x="0" y="68961"/>
                    <a:pt x="68961" y="0"/>
                    <a:pt x="153924" y="0"/>
                  </a:cubicBezTo>
                  <a:lnTo>
                    <a:pt x="18915126" y="0"/>
                  </a:lnTo>
                  <a:cubicBezTo>
                    <a:pt x="19000090" y="0"/>
                    <a:pt x="19069050" y="68961"/>
                    <a:pt x="19069050" y="153924"/>
                  </a:cubicBezTo>
                  <a:lnTo>
                    <a:pt x="19069050" y="1762379"/>
                  </a:lnTo>
                  <a:cubicBezTo>
                    <a:pt x="19069050" y="1847342"/>
                    <a:pt x="19000090" y="1916303"/>
                    <a:pt x="18915126" y="1916303"/>
                  </a:cubicBezTo>
                  <a:lnTo>
                    <a:pt x="153924" y="1916303"/>
                  </a:lnTo>
                  <a:cubicBezTo>
                    <a:pt x="68961" y="1916303"/>
                    <a:pt x="0" y="1847342"/>
                    <a:pt x="0" y="1762379"/>
                  </a:cubicBezTo>
                  <a:close/>
                </a:path>
              </a:pathLst>
            </a:custGeom>
            <a:solidFill>
              <a:srgbClr val="FFFFFF"/>
            </a:solidFill>
            <a:ln w="14288" cap="sq">
              <a:solidFill>
                <a:srgbClr val="EBE5DA"/>
              </a:solidFill>
              <a:prstDash val="solid"/>
              <a:miter/>
            </a:ln>
          </p:spPr>
        </p:sp>
      </p:grpSp>
      <p:sp>
        <p:nvSpPr>
          <p:cNvPr name="TextBox 13" id="13"/>
          <p:cNvSpPr txBox="true"/>
          <p:nvPr/>
        </p:nvSpPr>
        <p:spPr>
          <a:xfrm rot="0">
            <a:off x="2857500" y="7397801"/>
            <a:ext cx="13144500" cy="994324"/>
          </a:xfrm>
          <a:prstGeom prst="rect">
            <a:avLst/>
          </a:prstGeom>
        </p:spPr>
        <p:txBody>
          <a:bodyPr anchor="t" rtlCol="false" tIns="0" lIns="0" bIns="0" rIns="0">
            <a:spAutoFit/>
          </a:bodyPr>
          <a:lstStyle/>
          <a:p>
            <a:pPr algn="l">
              <a:lnSpc>
                <a:spcPts val="3887"/>
              </a:lnSpc>
            </a:pPr>
            <a:r>
              <a:rPr lang="en-US" b="true" sz="2025">
                <a:solidFill>
                  <a:srgbClr val="3B332B"/>
                </a:solidFill>
                <a:latin typeface="Open Sans Bold"/>
                <a:ea typeface="Open Sans Bold"/>
                <a:cs typeface="Open Sans Bold"/>
                <a:sym typeface="Open Sans Bold"/>
              </a:rPr>
              <a:t>Psychoeducation on Spiritual Abuse:</a:t>
            </a:r>
            <a:r>
              <a:rPr lang="en-US" sz="2025">
                <a:solidFill>
                  <a:srgbClr val="5C5248"/>
                </a:solidFill>
                <a:latin typeface="Open Sans"/>
                <a:ea typeface="Open Sans"/>
                <a:cs typeface="Open Sans"/>
                <a:sym typeface="Open Sans"/>
              </a:rPr>
              <a:t> Assisting clients in differentiating between healthy, consensual spiritual practice and authoritarian control, mitigating the fear of divine punishment.</a:t>
            </a:r>
          </a:p>
        </p:txBody>
      </p:sp>
      <p:grpSp>
        <p:nvGrpSpPr>
          <p:cNvPr name="Group 14" id="14"/>
          <p:cNvGrpSpPr/>
          <p:nvPr/>
        </p:nvGrpSpPr>
        <p:grpSpPr>
          <a:xfrm rot="0">
            <a:off x="2000250" y="3537499"/>
            <a:ext cx="14287500" cy="14288"/>
            <a:chOff x="0" y="0"/>
            <a:chExt cx="19050000" cy="19050"/>
          </a:xfrm>
        </p:grpSpPr>
        <p:sp>
          <p:nvSpPr>
            <p:cNvPr name="Freeform 15" id="15"/>
            <p:cNvSpPr/>
            <p:nvPr/>
          </p:nvSpPr>
          <p:spPr>
            <a:xfrm flipH="false" flipV="false" rot="0">
              <a:off x="0" y="0"/>
              <a:ext cx="19050000" cy="19050"/>
            </a:xfrm>
            <a:custGeom>
              <a:avLst/>
              <a:gdLst/>
              <a:ahLst/>
              <a:cxnLst/>
              <a:rect r="r" b="b" t="t" l="l"/>
              <a:pathLst>
                <a:path h="19050" w="19050000">
                  <a:moveTo>
                    <a:pt x="0" y="0"/>
                  </a:moveTo>
                  <a:lnTo>
                    <a:pt x="19050000" y="0"/>
                  </a:lnTo>
                  <a:lnTo>
                    <a:pt x="19050000" y="19050"/>
                  </a:lnTo>
                  <a:lnTo>
                    <a:pt x="0" y="19050"/>
                  </a:lnTo>
                  <a:close/>
                </a:path>
              </a:pathLst>
            </a:custGeom>
            <a:solidFill>
              <a:srgbClr val="EBE5DA"/>
            </a:solidFill>
          </p:spPr>
        </p:sp>
      </p:grpSp>
      <p:grpSp>
        <p:nvGrpSpPr>
          <p:cNvPr name="Group 16" id="16"/>
          <p:cNvGrpSpPr/>
          <p:nvPr/>
        </p:nvGrpSpPr>
        <p:grpSpPr>
          <a:xfrm rot="0">
            <a:off x="2000250" y="5246189"/>
            <a:ext cx="14287500" cy="14288"/>
            <a:chOff x="0" y="0"/>
            <a:chExt cx="19050000" cy="19050"/>
          </a:xfrm>
        </p:grpSpPr>
        <p:sp>
          <p:nvSpPr>
            <p:cNvPr name="Freeform 17" id="17"/>
            <p:cNvSpPr/>
            <p:nvPr/>
          </p:nvSpPr>
          <p:spPr>
            <a:xfrm flipH="false" flipV="false" rot="0">
              <a:off x="0" y="0"/>
              <a:ext cx="19050000" cy="19050"/>
            </a:xfrm>
            <a:custGeom>
              <a:avLst/>
              <a:gdLst/>
              <a:ahLst/>
              <a:cxnLst/>
              <a:rect r="r" b="b" t="t" l="l"/>
              <a:pathLst>
                <a:path h="19050" w="19050000">
                  <a:moveTo>
                    <a:pt x="0" y="0"/>
                  </a:moveTo>
                  <a:lnTo>
                    <a:pt x="19050000" y="0"/>
                  </a:lnTo>
                  <a:lnTo>
                    <a:pt x="19050000" y="19050"/>
                  </a:lnTo>
                  <a:lnTo>
                    <a:pt x="0" y="19050"/>
                  </a:lnTo>
                  <a:close/>
                </a:path>
              </a:pathLst>
            </a:custGeom>
            <a:solidFill>
              <a:srgbClr val="EBE5DA"/>
            </a:solidFill>
          </p:spPr>
        </p:sp>
      </p:grpSp>
      <p:grpSp>
        <p:nvGrpSpPr>
          <p:cNvPr name="Group 18" id="18"/>
          <p:cNvGrpSpPr/>
          <p:nvPr/>
        </p:nvGrpSpPr>
        <p:grpSpPr>
          <a:xfrm rot="0">
            <a:off x="2000250" y="6954888"/>
            <a:ext cx="14287500" cy="14288"/>
            <a:chOff x="0" y="0"/>
            <a:chExt cx="19050000" cy="19050"/>
          </a:xfrm>
        </p:grpSpPr>
        <p:sp>
          <p:nvSpPr>
            <p:cNvPr name="Freeform 19" id="19"/>
            <p:cNvSpPr/>
            <p:nvPr/>
          </p:nvSpPr>
          <p:spPr>
            <a:xfrm flipH="false" flipV="false" rot="0">
              <a:off x="0" y="0"/>
              <a:ext cx="19050000" cy="19050"/>
            </a:xfrm>
            <a:custGeom>
              <a:avLst/>
              <a:gdLst/>
              <a:ahLst/>
              <a:cxnLst/>
              <a:rect r="r" b="b" t="t" l="l"/>
              <a:pathLst>
                <a:path h="19050" w="19050000">
                  <a:moveTo>
                    <a:pt x="0" y="0"/>
                  </a:moveTo>
                  <a:lnTo>
                    <a:pt x="19050000" y="0"/>
                  </a:lnTo>
                  <a:lnTo>
                    <a:pt x="19050000" y="19050"/>
                  </a:lnTo>
                  <a:lnTo>
                    <a:pt x="0" y="19050"/>
                  </a:lnTo>
                  <a:close/>
                </a:path>
              </a:pathLst>
            </a:custGeom>
            <a:solidFill>
              <a:srgbClr val="EBE5DA"/>
            </a:solidFill>
          </p:spPr>
        </p:sp>
      </p:grpSp>
      <p:grpSp>
        <p:nvGrpSpPr>
          <p:cNvPr name="Group 20" id="20"/>
          <p:cNvGrpSpPr/>
          <p:nvPr/>
        </p:nvGrpSpPr>
        <p:grpSpPr>
          <a:xfrm rot="0">
            <a:off x="2000250" y="8663578"/>
            <a:ext cx="14287500" cy="14288"/>
            <a:chOff x="0" y="0"/>
            <a:chExt cx="19050000" cy="19050"/>
          </a:xfrm>
        </p:grpSpPr>
        <p:sp>
          <p:nvSpPr>
            <p:cNvPr name="Freeform 21" id="21"/>
            <p:cNvSpPr/>
            <p:nvPr/>
          </p:nvSpPr>
          <p:spPr>
            <a:xfrm flipH="false" flipV="false" rot="0">
              <a:off x="0" y="0"/>
              <a:ext cx="19050000" cy="19050"/>
            </a:xfrm>
            <a:custGeom>
              <a:avLst/>
              <a:gdLst/>
              <a:ahLst/>
              <a:cxnLst/>
              <a:rect r="r" b="b" t="t" l="l"/>
              <a:pathLst>
                <a:path h="19050" w="19050000">
                  <a:moveTo>
                    <a:pt x="0" y="0"/>
                  </a:moveTo>
                  <a:lnTo>
                    <a:pt x="19050000" y="0"/>
                  </a:lnTo>
                  <a:lnTo>
                    <a:pt x="19050000" y="19050"/>
                  </a:lnTo>
                  <a:lnTo>
                    <a:pt x="0" y="19050"/>
                  </a:lnTo>
                  <a:close/>
                </a:path>
              </a:pathLst>
            </a:custGeom>
            <a:solidFill>
              <a:srgbClr val="EBE5DA"/>
            </a:solidFill>
          </p:spPr>
        </p:sp>
      </p:grpSp>
      <p:grpSp>
        <p:nvGrpSpPr>
          <p:cNvPr name="Group 22" id="22"/>
          <p:cNvGrpSpPr/>
          <p:nvPr/>
        </p:nvGrpSpPr>
        <p:grpSpPr>
          <a:xfrm rot="0">
            <a:off x="2300288" y="2443162"/>
            <a:ext cx="342900" cy="371475"/>
            <a:chOff x="0" y="0"/>
            <a:chExt cx="457200" cy="495300"/>
          </a:xfrm>
        </p:grpSpPr>
        <p:sp>
          <p:nvSpPr>
            <p:cNvPr name="Freeform 23" id="23" descr="image.png"/>
            <p:cNvSpPr/>
            <p:nvPr/>
          </p:nvSpPr>
          <p:spPr>
            <a:xfrm flipH="false" flipV="false" rot="0">
              <a:off x="0" y="0"/>
              <a:ext cx="457200" cy="495300"/>
            </a:xfrm>
            <a:custGeom>
              <a:avLst/>
              <a:gdLst/>
              <a:ahLst/>
              <a:cxnLst/>
              <a:rect r="r" b="b" t="t" l="l"/>
              <a:pathLst>
                <a:path h="495300" w="457200">
                  <a:moveTo>
                    <a:pt x="0" y="0"/>
                  </a:moveTo>
                  <a:lnTo>
                    <a:pt x="457200" y="0"/>
                  </a:lnTo>
                  <a:lnTo>
                    <a:pt x="457200" y="495300"/>
                  </a:lnTo>
                  <a:lnTo>
                    <a:pt x="0" y="495300"/>
                  </a:lnTo>
                  <a:lnTo>
                    <a:pt x="0" y="0"/>
                  </a:lnTo>
                  <a:close/>
                </a:path>
              </a:pathLst>
            </a:custGeom>
            <a:blipFill>
              <a:blip r:embed="rId2"/>
              <a:stretch>
                <a:fillRect l="0" t="0" r="0" b="0"/>
              </a:stretch>
            </a:blipFill>
          </p:spPr>
        </p:sp>
      </p:grpSp>
      <p:grpSp>
        <p:nvGrpSpPr>
          <p:cNvPr name="Group 24" id="24"/>
          <p:cNvGrpSpPr/>
          <p:nvPr/>
        </p:nvGrpSpPr>
        <p:grpSpPr>
          <a:xfrm rot="0">
            <a:off x="2300288" y="4151862"/>
            <a:ext cx="342900" cy="371475"/>
            <a:chOff x="0" y="0"/>
            <a:chExt cx="457200" cy="495300"/>
          </a:xfrm>
        </p:grpSpPr>
        <p:sp>
          <p:nvSpPr>
            <p:cNvPr name="Freeform 25" id="25" descr="image.png"/>
            <p:cNvSpPr/>
            <p:nvPr/>
          </p:nvSpPr>
          <p:spPr>
            <a:xfrm flipH="false" flipV="false" rot="0">
              <a:off x="0" y="0"/>
              <a:ext cx="457200" cy="495300"/>
            </a:xfrm>
            <a:custGeom>
              <a:avLst/>
              <a:gdLst/>
              <a:ahLst/>
              <a:cxnLst/>
              <a:rect r="r" b="b" t="t" l="l"/>
              <a:pathLst>
                <a:path h="495300" w="457200">
                  <a:moveTo>
                    <a:pt x="0" y="0"/>
                  </a:moveTo>
                  <a:lnTo>
                    <a:pt x="457200" y="0"/>
                  </a:lnTo>
                  <a:lnTo>
                    <a:pt x="457200" y="495300"/>
                  </a:lnTo>
                  <a:lnTo>
                    <a:pt x="0" y="495300"/>
                  </a:lnTo>
                  <a:lnTo>
                    <a:pt x="0" y="0"/>
                  </a:lnTo>
                  <a:close/>
                </a:path>
              </a:pathLst>
            </a:custGeom>
            <a:blipFill>
              <a:blip r:embed="rId3"/>
              <a:stretch>
                <a:fillRect l="0" t="0" r="0" b="0"/>
              </a:stretch>
            </a:blipFill>
          </p:spPr>
        </p:sp>
      </p:grpSp>
      <p:grpSp>
        <p:nvGrpSpPr>
          <p:cNvPr name="Group 26" id="26"/>
          <p:cNvGrpSpPr/>
          <p:nvPr/>
        </p:nvGrpSpPr>
        <p:grpSpPr>
          <a:xfrm rot="0">
            <a:off x="2300288" y="5860552"/>
            <a:ext cx="342900" cy="371475"/>
            <a:chOff x="0" y="0"/>
            <a:chExt cx="457200" cy="495300"/>
          </a:xfrm>
        </p:grpSpPr>
        <p:sp>
          <p:nvSpPr>
            <p:cNvPr name="Freeform 27" id="27" descr="image.png"/>
            <p:cNvSpPr/>
            <p:nvPr/>
          </p:nvSpPr>
          <p:spPr>
            <a:xfrm flipH="false" flipV="false" rot="0">
              <a:off x="0" y="0"/>
              <a:ext cx="457200" cy="495300"/>
            </a:xfrm>
            <a:custGeom>
              <a:avLst/>
              <a:gdLst/>
              <a:ahLst/>
              <a:cxnLst/>
              <a:rect r="r" b="b" t="t" l="l"/>
              <a:pathLst>
                <a:path h="495300" w="457200">
                  <a:moveTo>
                    <a:pt x="0" y="0"/>
                  </a:moveTo>
                  <a:lnTo>
                    <a:pt x="457200" y="0"/>
                  </a:lnTo>
                  <a:lnTo>
                    <a:pt x="457200" y="495300"/>
                  </a:lnTo>
                  <a:lnTo>
                    <a:pt x="0" y="495300"/>
                  </a:lnTo>
                  <a:lnTo>
                    <a:pt x="0" y="0"/>
                  </a:lnTo>
                  <a:close/>
                </a:path>
              </a:pathLst>
            </a:custGeom>
            <a:blipFill>
              <a:blip r:embed="rId4"/>
              <a:stretch>
                <a:fillRect l="0" t="0" r="0" b="0"/>
              </a:stretch>
            </a:blipFill>
          </p:spPr>
        </p:sp>
      </p:grpSp>
      <p:grpSp>
        <p:nvGrpSpPr>
          <p:cNvPr name="Group 28" id="28"/>
          <p:cNvGrpSpPr/>
          <p:nvPr/>
        </p:nvGrpSpPr>
        <p:grpSpPr>
          <a:xfrm rot="0">
            <a:off x="2300288" y="7569251"/>
            <a:ext cx="428625" cy="371475"/>
            <a:chOff x="0" y="0"/>
            <a:chExt cx="571500" cy="495300"/>
          </a:xfrm>
        </p:grpSpPr>
        <p:sp>
          <p:nvSpPr>
            <p:cNvPr name="Freeform 29" id="29" descr="image.png"/>
            <p:cNvSpPr/>
            <p:nvPr/>
          </p:nvSpPr>
          <p:spPr>
            <a:xfrm flipH="false" flipV="false" rot="0">
              <a:off x="0" y="0"/>
              <a:ext cx="571500" cy="495300"/>
            </a:xfrm>
            <a:custGeom>
              <a:avLst/>
              <a:gdLst/>
              <a:ahLst/>
              <a:cxnLst/>
              <a:rect r="r" b="b" t="t" l="l"/>
              <a:pathLst>
                <a:path h="495300" w="571500">
                  <a:moveTo>
                    <a:pt x="0" y="0"/>
                  </a:moveTo>
                  <a:lnTo>
                    <a:pt x="571500" y="0"/>
                  </a:lnTo>
                  <a:lnTo>
                    <a:pt x="571500" y="495300"/>
                  </a:lnTo>
                  <a:lnTo>
                    <a:pt x="0" y="495300"/>
                  </a:lnTo>
                  <a:lnTo>
                    <a:pt x="0" y="0"/>
                  </a:lnTo>
                  <a:close/>
                </a:path>
              </a:pathLst>
            </a:custGeom>
            <a:blipFill>
              <a:blip r:embed="rId5"/>
              <a:stretch>
                <a:fillRect l="0" t="0" r="0" b="0"/>
              </a:stretch>
            </a:blipFill>
          </p:spPr>
        </p:sp>
      </p:grpSp>
      <p:sp>
        <p:nvSpPr>
          <p:cNvPr name="TextBox 30" id="30"/>
          <p:cNvSpPr txBox="true"/>
          <p:nvPr/>
        </p:nvSpPr>
        <p:spPr>
          <a:xfrm rot="0">
            <a:off x="857250" y="857250"/>
            <a:ext cx="7891312" cy="685784"/>
          </a:xfrm>
          <a:prstGeom prst="rect">
            <a:avLst/>
          </a:prstGeom>
        </p:spPr>
        <p:txBody>
          <a:bodyPr anchor="t" rtlCol="false" tIns="0" lIns="0" bIns="0" rIns="0">
            <a:spAutoFit/>
          </a:bodyPr>
          <a:lstStyle/>
          <a:p>
            <a:pPr algn="l">
              <a:lnSpc>
                <a:spcPts val="5400"/>
              </a:lnSpc>
            </a:pPr>
            <a:r>
              <a:rPr lang="en-US" b="true" sz="4500">
                <a:solidFill>
                  <a:srgbClr val="8C7355"/>
                </a:solidFill>
                <a:latin typeface="Montserrat Bold"/>
                <a:ea typeface="Montserrat Bold"/>
                <a:cs typeface="Montserrat Bold"/>
                <a:sym typeface="Montserrat Bold"/>
              </a:rPr>
              <a:t>CLINICAL INTERVENTIONS</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4F1EA"/>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638548" y="2521067"/>
          <a:ext cx="17010904" cy="7356812"/>
        </p:xfrm>
        <a:graphic>
          <a:graphicData uri="http://schemas.openxmlformats.org/drawingml/2006/table">
            <a:tbl>
              <a:tblPr/>
              <a:tblGrid>
                <a:gridCol w="2848354"/>
                <a:gridCol w="4053177"/>
                <a:gridCol w="10109372"/>
              </a:tblGrid>
              <a:tr h="947935">
                <a:tc>
                  <a:txBody>
                    <a:bodyPr anchor="t" rtlCol="false"/>
                    <a:lstStyle/>
                    <a:p>
                      <a:pPr algn="l">
                        <a:lnSpc>
                          <a:spcPts val="2700"/>
                        </a:lnSpc>
                        <a:defRPr/>
                      </a:pPr>
                      <a:r>
                        <a:rPr lang="en-US" b="true" sz="2250">
                          <a:solidFill>
                            <a:srgbClr val="5C5248"/>
                          </a:solidFill>
                          <a:latin typeface="Montserrat Semi-Bold"/>
                          <a:ea typeface="Montserrat Semi-Bold"/>
                          <a:cs typeface="Montserrat Semi-Bold"/>
                          <a:sym typeface="Montserrat Semi-Bold"/>
                        </a:rPr>
                        <a:t>Resource Type</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CFBFA"/>
                    </a:solidFill>
                  </a:tcPr>
                </a:tc>
                <a:tc>
                  <a:txBody>
                    <a:bodyPr anchor="t" rtlCol="false"/>
                    <a:lstStyle/>
                    <a:p>
                      <a:pPr algn="l">
                        <a:lnSpc>
                          <a:spcPts val="2700"/>
                        </a:lnSpc>
                        <a:defRPr/>
                      </a:pPr>
                      <a:r>
                        <a:rPr lang="en-US" b="true" sz="2250">
                          <a:solidFill>
                            <a:srgbClr val="5C5248"/>
                          </a:solidFill>
                          <a:latin typeface="Montserrat Semi-Bold"/>
                          <a:ea typeface="Montserrat Semi-Bold"/>
                          <a:cs typeface="Montserrat Semi-Bold"/>
                          <a:sym typeface="Montserrat Semi-Bold"/>
                        </a:rPr>
                        <a:t>Title / Organization</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CFBFA"/>
                    </a:solidFill>
                  </a:tcPr>
                </a:tc>
                <a:tc>
                  <a:txBody>
                    <a:bodyPr anchor="t" rtlCol="false"/>
                    <a:lstStyle/>
                    <a:p>
                      <a:pPr algn="l">
                        <a:lnSpc>
                          <a:spcPts val="2700"/>
                        </a:lnSpc>
                        <a:defRPr/>
                      </a:pPr>
                      <a:r>
                        <a:rPr lang="en-US" b="true" sz="2250">
                          <a:solidFill>
                            <a:srgbClr val="5C5248"/>
                          </a:solidFill>
                          <a:latin typeface="Montserrat Semi-Bold"/>
                          <a:ea typeface="Montserrat Semi-Bold"/>
                          <a:cs typeface="Montserrat Semi-Bold"/>
                          <a:sym typeface="Montserrat Semi-Bold"/>
                        </a:rPr>
                        <a:t>Primary Focus &amp; Application</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CFBFA"/>
                    </a:solidFill>
                  </a:tcPr>
                </a:tc>
              </a:tr>
              <a:tr h="1235015">
                <a:tc>
                  <a:txBody>
                    <a:bodyPr anchor="t" rtlCol="false"/>
                    <a:lstStyle/>
                    <a:p>
                      <a:pPr algn="l">
                        <a:lnSpc>
                          <a:spcPts val="2430"/>
                        </a:lnSpc>
                        <a:defRPr/>
                      </a:pPr>
                      <a:r>
                        <a:rPr lang="en-US" b="true" sz="2025">
                          <a:solidFill>
                            <a:srgbClr val="6D5B45"/>
                          </a:solidFill>
                          <a:latin typeface="Montserrat Semi-Bold"/>
                          <a:ea typeface="Montserrat Semi-Bold"/>
                          <a:cs typeface="Montserrat Semi-Bold"/>
                          <a:sym typeface="Montserrat Semi-Bold"/>
                        </a:rPr>
                        <a:t>Client Resource</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D1C8B8"/>
                    </a:solidFill>
                  </a:tcPr>
                </a:tc>
                <a:tc>
                  <a:txBody>
                    <a:bodyPr anchor="t" rtlCol="false"/>
                    <a:lstStyle/>
                    <a:p>
                      <a:pPr algn="l">
                        <a:lnSpc>
                          <a:spcPts val="2430"/>
                        </a:lnSpc>
                        <a:defRPr/>
                      </a:pPr>
                      <a:r>
                        <a:rPr lang="en-US" sz="2025" i="true">
                          <a:solidFill>
                            <a:srgbClr val="6D5B45"/>
                          </a:solidFill>
                          <a:latin typeface="Montserrat Italics"/>
                          <a:ea typeface="Montserrat Italics"/>
                          <a:cs typeface="Montserrat Italics"/>
                          <a:sym typeface="Montserrat Italics"/>
                        </a:rPr>
                        <a:t>Come As You Are</a:t>
                      </a:r>
                      <a:r>
                        <a:rPr lang="en-US" sz="2025">
                          <a:solidFill>
                            <a:srgbClr val="6D5B45"/>
                          </a:solidFill>
                          <a:latin typeface="Montserrat"/>
                          <a:ea typeface="Montserrat"/>
                          <a:cs typeface="Montserrat"/>
                          <a:sym typeface="Montserrat"/>
                        </a:rPr>
                        <a:t> by Emily Nagoski</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D1C8B8"/>
                    </a:solidFill>
                  </a:tcPr>
                </a:tc>
                <a:tc>
                  <a:txBody>
                    <a:bodyPr anchor="t" rtlCol="false"/>
                    <a:lstStyle/>
                    <a:p>
                      <a:pPr algn="l">
                        <a:lnSpc>
                          <a:spcPts val="2430"/>
                        </a:lnSpc>
                        <a:defRPr/>
                      </a:pPr>
                      <a:r>
                        <a:rPr lang="en-US" sz="2025">
                          <a:solidFill>
                            <a:srgbClr val="6D5B45"/>
                          </a:solidFill>
                          <a:latin typeface="Montserrat"/>
                          <a:ea typeface="Montserrat"/>
                          <a:cs typeface="Montserrat"/>
                          <a:sym typeface="Montserrat"/>
                        </a:rPr>
                        <a:t>Normalizes sexual desire and anatomy; crucial for undoing the misinformation propagated by abstinence-only education.</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D1C8B8"/>
                    </a:solidFill>
                  </a:tcPr>
                </a:tc>
              </a:tr>
              <a:tr h="1233781">
                <a:tc>
                  <a:txBody>
                    <a:bodyPr anchor="t" rtlCol="false"/>
                    <a:lstStyle/>
                    <a:p>
                      <a:pPr algn="l">
                        <a:lnSpc>
                          <a:spcPts val="2430"/>
                        </a:lnSpc>
                        <a:defRPr/>
                      </a:pPr>
                      <a:r>
                        <a:rPr lang="en-US" b="true" sz="2025">
                          <a:solidFill>
                            <a:srgbClr val="6D5B45"/>
                          </a:solidFill>
                          <a:latin typeface="Montserrat Semi-Bold"/>
                          <a:ea typeface="Montserrat Semi-Bold"/>
                          <a:cs typeface="Montserrat Semi-Bold"/>
                          <a:sym typeface="Montserrat Semi-Bold"/>
                        </a:rPr>
                        <a:t>Client Resource</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D1C8B8"/>
                    </a:solidFill>
                  </a:tcPr>
                </a:tc>
                <a:tc>
                  <a:txBody>
                    <a:bodyPr anchor="t" rtlCol="false"/>
                    <a:lstStyle/>
                    <a:p>
                      <a:pPr algn="l">
                        <a:lnSpc>
                          <a:spcPts val="2430"/>
                        </a:lnSpc>
                        <a:defRPr/>
                      </a:pPr>
                      <a:r>
                        <a:rPr lang="en-US" sz="2025" i="true">
                          <a:solidFill>
                            <a:srgbClr val="6D5B45"/>
                          </a:solidFill>
                          <a:latin typeface="Montserrat Italics"/>
                          <a:ea typeface="Montserrat Italics"/>
                          <a:cs typeface="Montserrat Italics"/>
                          <a:sym typeface="Montserrat Italics"/>
                        </a:rPr>
                        <a:t>Pure by Linda Kay Klein</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D1C8B8"/>
                    </a:solidFill>
                  </a:tcPr>
                </a:tc>
                <a:tc>
                  <a:txBody>
                    <a:bodyPr anchor="t" rtlCol="false"/>
                    <a:lstStyle/>
                    <a:p>
                      <a:pPr algn="l">
                        <a:lnSpc>
                          <a:spcPts val="2430"/>
                        </a:lnSpc>
                        <a:defRPr/>
                      </a:pPr>
                      <a:r>
                        <a:rPr lang="en-US" sz="2025">
                          <a:solidFill>
                            <a:srgbClr val="6D5B45"/>
                          </a:solidFill>
                          <a:latin typeface="Montserrat"/>
                          <a:ea typeface="Montserrat"/>
                          <a:cs typeface="Montserrat"/>
                          <a:sym typeface="Montserrat"/>
                        </a:rPr>
                        <a:t>A profound exploration of purity culture's impact on a generation; helps clients realize they are not alone in their trauma.</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D1C8B8"/>
                    </a:solidFill>
                  </a:tcPr>
                </a:tc>
              </a:tr>
              <a:tr h="1457325">
                <a:tc>
                  <a:txBody>
                    <a:bodyPr anchor="t" rtlCol="false"/>
                    <a:lstStyle/>
                    <a:p>
                      <a:pPr algn="l">
                        <a:lnSpc>
                          <a:spcPts val="2430"/>
                        </a:lnSpc>
                        <a:defRPr/>
                      </a:pPr>
                      <a:r>
                        <a:rPr lang="en-US" b="true" sz="2025">
                          <a:solidFill>
                            <a:srgbClr val="5C5248"/>
                          </a:solidFill>
                          <a:latin typeface="Montserrat Semi-Bold"/>
                          <a:ea typeface="Montserrat Semi-Bold"/>
                          <a:cs typeface="Montserrat Semi-Bold"/>
                          <a:sym typeface="Montserrat Semi-Bold"/>
                        </a:rPr>
                        <a:t>Clinician Resource</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AF9F7"/>
                    </a:solidFill>
                  </a:tcPr>
                </a:tc>
                <a:tc>
                  <a:txBody>
                    <a:bodyPr anchor="t" rtlCol="false"/>
                    <a:lstStyle/>
                    <a:p>
                      <a:pPr algn="l">
                        <a:lnSpc>
                          <a:spcPts val="2430"/>
                        </a:lnSpc>
                        <a:defRPr/>
                      </a:pPr>
                      <a:r>
                        <a:rPr lang="en-US" sz="2025" i="true">
                          <a:solidFill>
                            <a:srgbClr val="5C5248"/>
                          </a:solidFill>
                          <a:latin typeface="Montserrat Italics"/>
                          <a:ea typeface="Montserrat Italics"/>
                          <a:cs typeface="Montserrat Italics"/>
                          <a:sym typeface="Montserrat Italics"/>
                        </a:rPr>
                        <a:t>S</a:t>
                      </a:r>
                      <a:r>
                        <a:rPr lang="en-US" sz="2025" i="true">
                          <a:solidFill>
                            <a:srgbClr val="5C5248"/>
                          </a:solidFill>
                          <a:latin typeface="Montserrat Italics"/>
                          <a:ea typeface="Montserrat Italics"/>
                          <a:cs typeface="Montserrat Italics"/>
                          <a:sym typeface="Montserrat Italics"/>
                        </a:rPr>
                        <a:t>ex, God, and the Conservative Church by Tina Schermer Sellers</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AF9F7"/>
                    </a:solidFill>
                  </a:tcPr>
                </a:tc>
                <a:tc>
                  <a:txBody>
                    <a:bodyPr anchor="t" rtlCol="false"/>
                    <a:lstStyle/>
                    <a:p>
                      <a:pPr algn="l">
                        <a:lnSpc>
                          <a:spcPts val="2430"/>
                        </a:lnSpc>
                        <a:defRPr/>
                      </a:pPr>
                      <a:r>
                        <a:rPr lang="en-US" sz="2025">
                          <a:solidFill>
                            <a:srgbClr val="5C5248"/>
                          </a:solidFill>
                          <a:latin typeface="Montserrat"/>
                          <a:ea typeface="Montserrat"/>
                          <a:cs typeface="Montserrat"/>
                          <a:sym typeface="Montserrat"/>
                        </a:rPr>
                        <a:t>Guide for </a:t>
                      </a:r>
                      <a:r>
                        <a:rPr lang="en-US" sz="2025">
                          <a:solidFill>
                            <a:srgbClr val="5C5248"/>
                          </a:solidFill>
                          <a:latin typeface="Montserrat"/>
                          <a:ea typeface="Montserrat"/>
                          <a:cs typeface="Montserrat"/>
                          <a:sym typeface="Montserrat"/>
                        </a:rPr>
                        <a:t>psychotherapy and sexology clinicians on how to treat clients who grew up in a conservative faith―mired in sexual shame and dysfunction―and who desire to both heal and hold on to their faith orientation. </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AF9F7"/>
                    </a:solidFill>
                  </a:tcPr>
                </a:tc>
              </a:tr>
              <a:tr h="1235015">
                <a:tc>
                  <a:txBody>
                    <a:bodyPr anchor="t" rtlCol="false"/>
                    <a:lstStyle/>
                    <a:p>
                      <a:pPr algn="l">
                        <a:lnSpc>
                          <a:spcPts val="2430"/>
                        </a:lnSpc>
                        <a:defRPr/>
                      </a:pPr>
                      <a:r>
                        <a:rPr lang="en-US" b="true" sz="2025">
                          <a:solidFill>
                            <a:srgbClr val="5C5248"/>
                          </a:solidFill>
                          <a:latin typeface="Montserrat Semi-Bold"/>
                          <a:ea typeface="Montserrat Semi-Bold"/>
                          <a:cs typeface="Montserrat Semi-Bold"/>
                          <a:sym typeface="Montserrat Semi-Bold"/>
                        </a:rPr>
                        <a:t>Clinician Resource</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CFBFA"/>
                    </a:solidFill>
                  </a:tcPr>
                </a:tc>
                <a:tc>
                  <a:txBody>
                    <a:bodyPr anchor="t" rtlCol="false"/>
                    <a:lstStyle/>
                    <a:p>
                      <a:pPr algn="l">
                        <a:lnSpc>
                          <a:spcPts val="2430"/>
                        </a:lnSpc>
                        <a:defRPr/>
                      </a:pPr>
                      <a:r>
                        <a:rPr lang="en-US" sz="2025" i="true">
                          <a:solidFill>
                            <a:srgbClr val="5C5248"/>
                          </a:solidFill>
                          <a:latin typeface="Montserrat Italics"/>
                          <a:ea typeface="Montserrat Italics"/>
                          <a:cs typeface="Montserrat Italics"/>
                          <a:sym typeface="Montserrat Italics"/>
                        </a:rPr>
                        <a:t>Leaving the Fold</a:t>
                      </a:r>
                      <a:r>
                        <a:rPr lang="en-US" sz="2025">
                          <a:solidFill>
                            <a:srgbClr val="5C5248"/>
                          </a:solidFill>
                          <a:latin typeface="Montserrat"/>
                          <a:ea typeface="Montserrat"/>
                          <a:cs typeface="Montserrat"/>
                          <a:sym typeface="Montserrat"/>
                        </a:rPr>
                        <a:t> by Dr. Marlene Winell</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CFBFA"/>
                    </a:solidFill>
                  </a:tcPr>
                </a:tc>
                <a:tc>
                  <a:txBody>
                    <a:bodyPr anchor="t" rtlCol="false"/>
                    <a:lstStyle/>
                    <a:p>
                      <a:pPr algn="l">
                        <a:lnSpc>
                          <a:spcPts val="2430"/>
                        </a:lnSpc>
                        <a:defRPr/>
                      </a:pPr>
                      <a:r>
                        <a:rPr lang="en-US" sz="2025">
                          <a:solidFill>
                            <a:srgbClr val="5C5248"/>
                          </a:solidFill>
                          <a:latin typeface="Montserrat"/>
                          <a:ea typeface="Montserrat"/>
                          <a:cs typeface="Montserrat"/>
                          <a:sym typeface="Montserrat"/>
                        </a:rPr>
                        <a:t>The foundational text on Religious Trauma Syndrome (RTS), providing a framework for understanding post-religion recovery.</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CFBFA"/>
                    </a:solidFill>
                  </a:tcPr>
                </a:tc>
              </a:tr>
              <a:tr h="1247741">
                <a:tc>
                  <a:txBody>
                    <a:bodyPr anchor="t" rtlCol="false"/>
                    <a:lstStyle/>
                    <a:p>
                      <a:pPr algn="l">
                        <a:lnSpc>
                          <a:spcPts val="2430"/>
                        </a:lnSpc>
                        <a:defRPr/>
                      </a:pPr>
                      <a:r>
                        <a:rPr lang="en-US" b="true" sz="2025">
                          <a:solidFill>
                            <a:srgbClr val="5C5248"/>
                          </a:solidFill>
                          <a:latin typeface="Montserrat Semi-Bold"/>
                          <a:ea typeface="Montserrat Semi-Bold"/>
                          <a:cs typeface="Montserrat Semi-Bold"/>
                          <a:sym typeface="Montserrat Semi-Bold"/>
                        </a:rPr>
                        <a:t>Clinician Resource</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AF9F7"/>
                    </a:solidFill>
                  </a:tcPr>
                </a:tc>
                <a:tc>
                  <a:txBody>
                    <a:bodyPr anchor="t" rtlCol="false"/>
                    <a:lstStyle/>
                    <a:p>
                      <a:pPr algn="l">
                        <a:lnSpc>
                          <a:spcPts val="2430"/>
                        </a:lnSpc>
                        <a:defRPr/>
                      </a:pPr>
                      <a:r>
                        <a:rPr lang="en-US" sz="2025">
                          <a:solidFill>
                            <a:srgbClr val="5C5248"/>
                          </a:solidFill>
                          <a:latin typeface="Montserrat"/>
                          <a:ea typeface="Montserrat"/>
                          <a:cs typeface="Montserrat"/>
                          <a:sym typeface="Montserrat"/>
                        </a:rPr>
                        <a:t>Religious Trauma Institute (RTI)</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AF9F7"/>
                    </a:solidFill>
                  </a:tcPr>
                </a:tc>
                <a:tc>
                  <a:txBody>
                    <a:bodyPr anchor="t" rtlCol="false"/>
                    <a:lstStyle/>
                    <a:p>
                      <a:pPr algn="l">
                        <a:lnSpc>
                          <a:spcPts val="2430"/>
                        </a:lnSpc>
                        <a:defRPr/>
                      </a:pPr>
                      <a:r>
                        <a:rPr lang="en-US" sz="2025">
                          <a:solidFill>
                            <a:srgbClr val="5C5248"/>
                          </a:solidFill>
                          <a:latin typeface="Montserrat"/>
                          <a:ea typeface="Montserrat"/>
                          <a:cs typeface="Montserrat"/>
                          <a:sym typeface="Montserrat"/>
                        </a:rPr>
                        <a:t>Offers specialized clinical training on the intersection of trauma, high-control religion, and somatic therapy.</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AF9F7"/>
                    </a:solidFill>
                  </a:tcPr>
                </a:tc>
              </a:tr>
            </a:tbl>
          </a:graphicData>
        </a:graphic>
      </p:graphicFrame>
      <p:sp>
        <p:nvSpPr>
          <p:cNvPr name="TextBox 3" id="3"/>
          <p:cNvSpPr txBox="true"/>
          <p:nvPr/>
        </p:nvSpPr>
        <p:spPr>
          <a:xfrm rot="0">
            <a:off x="857250" y="647405"/>
            <a:ext cx="7949032" cy="685770"/>
          </a:xfrm>
          <a:prstGeom prst="rect">
            <a:avLst/>
          </a:prstGeom>
        </p:spPr>
        <p:txBody>
          <a:bodyPr anchor="t" rtlCol="false" tIns="0" lIns="0" bIns="0" rIns="0">
            <a:spAutoFit/>
          </a:bodyPr>
          <a:lstStyle/>
          <a:p>
            <a:pPr algn="l">
              <a:lnSpc>
                <a:spcPts val="5400"/>
              </a:lnSpc>
            </a:pPr>
            <a:r>
              <a:rPr lang="en-US" b="true" sz="4500">
                <a:solidFill>
                  <a:srgbClr val="8C7355"/>
                </a:solidFill>
                <a:latin typeface="Montserrat Semi-Bold"/>
                <a:ea typeface="Montserrat Semi-Bold"/>
                <a:cs typeface="Montserrat Semi-Bold"/>
                <a:sym typeface="Montserrat Semi-Bold"/>
              </a:rPr>
              <a:t>RESOURCES FOR HEALING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4F1E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9501188" y="2128838"/>
            <a:ext cx="7929562" cy="5715000"/>
            <a:chOff x="0" y="0"/>
            <a:chExt cx="10572750" cy="7620000"/>
          </a:xfrm>
        </p:grpSpPr>
        <p:sp>
          <p:nvSpPr>
            <p:cNvPr name="Freeform 5" id="5" descr="image.png"/>
            <p:cNvSpPr/>
            <p:nvPr/>
          </p:nvSpPr>
          <p:spPr>
            <a:xfrm flipH="false" flipV="false" rot="0">
              <a:off x="0" y="0"/>
              <a:ext cx="10572750" cy="7620000"/>
            </a:xfrm>
            <a:custGeom>
              <a:avLst/>
              <a:gdLst/>
              <a:ahLst/>
              <a:cxnLst/>
              <a:rect r="r" b="b" t="t" l="l"/>
              <a:pathLst>
                <a:path h="7620000" w="10572750">
                  <a:moveTo>
                    <a:pt x="0" y="0"/>
                  </a:moveTo>
                  <a:lnTo>
                    <a:pt x="10572750" y="0"/>
                  </a:lnTo>
                  <a:lnTo>
                    <a:pt x="10572750" y="7620000"/>
                  </a:lnTo>
                  <a:lnTo>
                    <a:pt x="0" y="7620000"/>
                  </a:lnTo>
                  <a:lnTo>
                    <a:pt x="0" y="0"/>
                  </a:lnTo>
                  <a:close/>
                </a:path>
              </a:pathLst>
            </a:custGeom>
            <a:blipFill>
              <a:blip r:embed="rId3"/>
              <a:stretch>
                <a:fillRect l="0" t="0" r="0" b="0"/>
              </a:stretch>
            </a:blipFill>
          </p:spPr>
        </p:sp>
      </p:grpSp>
      <p:sp>
        <p:nvSpPr>
          <p:cNvPr name="TextBox 6" id="6"/>
          <p:cNvSpPr txBox="true"/>
          <p:nvPr/>
        </p:nvSpPr>
        <p:spPr>
          <a:xfrm rot="0">
            <a:off x="1114425" y="2117884"/>
            <a:ext cx="100012" cy="423863"/>
          </a:xfrm>
          <a:prstGeom prst="rect">
            <a:avLst/>
          </a:prstGeom>
        </p:spPr>
        <p:txBody>
          <a:bodyPr anchor="t" rtlCol="false" tIns="0" lIns="0" bIns="0" rIns="0">
            <a:spAutoFit/>
          </a:bodyPr>
          <a:lstStyle/>
          <a:p>
            <a:pPr algn="l">
              <a:lnSpc>
                <a:spcPts val="2430"/>
              </a:lnSpc>
            </a:pPr>
            <a:r>
              <a:rPr lang="en-US" sz="2025">
                <a:solidFill>
                  <a:srgbClr val="5C5248"/>
                </a:solidFill>
                <a:latin typeface="Open Sans"/>
                <a:ea typeface="Open Sans"/>
                <a:cs typeface="Open Sans"/>
                <a:sym typeface="Open Sans"/>
              </a:rPr>
              <a:t>•</a:t>
            </a:r>
          </a:p>
        </p:txBody>
      </p:sp>
      <p:sp>
        <p:nvSpPr>
          <p:cNvPr name="TextBox 7" id="7"/>
          <p:cNvSpPr txBox="true"/>
          <p:nvPr/>
        </p:nvSpPr>
        <p:spPr>
          <a:xfrm rot="0">
            <a:off x="1281112" y="1985963"/>
            <a:ext cx="7505700" cy="965749"/>
          </a:xfrm>
          <a:prstGeom prst="rect">
            <a:avLst/>
          </a:prstGeom>
        </p:spPr>
        <p:txBody>
          <a:bodyPr anchor="t" rtlCol="false" tIns="0" lIns="0" bIns="0" rIns="0">
            <a:spAutoFit/>
          </a:bodyPr>
          <a:lstStyle/>
          <a:p>
            <a:pPr algn="l">
              <a:lnSpc>
                <a:spcPts val="3887"/>
              </a:lnSpc>
            </a:pPr>
            <a:r>
              <a:rPr lang="en-US" sz="2025">
                <a:solidFill>
                  <a:srgbClr val="5C5248"/>
                </a:solidFill>
                <a:latin typeface="Open Sans"/>
                <a:ea typeface="Open Sans"/>
                <a:cs typeface="Open Sans"/>
                <a:sym typeface="Open Sans"/>
              </a:rPr>
              <a:t>Purity culture and authoritarian religious environments create complex relational and sexual trauma.</a:t>
            </a:r>
          </a:p>
        </p:txBody>
      </p:sp>
      <p:sp>
        <p:nvSpPr>
          <p:cNvPr name="TextBox 8" id="8"/>
          <p:cNvSpPr txBox="true"/>
          <p:nvPr/>
        </p:nvSpPr>
        <p:spPr>
          <a:xfrm rot="0">
            <a:off x="1114425" y="3155061"/>
            <a:ext cx="100012" cy="423863"/>
          </a:xfrm>
          <a:prstGeom prst="rect">
            <a:avLst/>
          </a:prstGeom>
        </p:spPr>
        <p:txBody>
          <a:bodyPr anchor="t" rtlCol="false" tIns="0" lIns="0" bIns="0" rIns="0">
            <a:spAutoFit/>
          </a:bodyPr>
          <a:lstStyle/>
          <a:p>
            <a:pPr algn="l">
              <a:lnSpc>
                <a:spcPts val="2430"/>
              </a:lnSpc>
            </a:pPr>
            <a:r>
              <a:rPr lang="en-US" sz="2025">
                <a:solidFill>
                  <a:srgbClr val="5C5248"/>
                </a:solidFill>
                <a:latin typeface="Open Sans"/>
                <a:ea typeface="Open Sans"/>
                <a:cs typeface="Open Sans"/>
                <a:sym typeface="Open Sans"/>
              </a:rPr>
              <a:t>•</a:t>
            </a:r>
          </a:p>
        </p:txBody>
      </p:sp>
      <p:sp>
        <p:nvSpPr>
          <p:cNvPr name="TextBox 9" id="9"/>
          <p:cNvSpPr txBox="true"/>
          <p:nvPr/>
        </p:nvSpPr>
        <p:spPr>
          <a:xfrm rot="0">
            <a:off x="1281112" y="3023149"/>
            <a:ext cx="7505700" cy="965749"/>
          </a:xfrm>
          <a:prstGeom prst="rect">
            <a:avLst/>
          </a:prstGeom>
        </p:spPr>
        <p:txBody>
          <a:bodyPr anchor="t" rtlCol="false" tIns="0" lIns="0" bIns="0" rIns="0">
            <a:spAutoFit/>
          </a:bodyPr>
          <a:lstStyle/>
          <a:p>
            <a:pPr algn="l">
              <a:lnSpc>
                <a:spcPts val="3887"/>
              </a:lnSpc>
            </a:pPr>
            <a:r>
              <a:rPr lang="en-US" sz="2025">
                <a:solidFill>
                  <a:srgbClr val="5C5248"/>
                </a:solidFill>
                <a:latin typeface="Open Sans"/>
                <a:ea typeface="Open Sans"/>
                <a:cs typeface="Open Sans"/>
                <a:sym typeface="Open Sans"/>
              </a:rPr>
              <a:t>Therapists must look beyond presenting symptoms like low desire to assess for systemic, religious sexual shame.</a:t>
            </a:r>
          </a:p>
        </p:txBody>
      </p:sp>
      <p:sp>
        <p:nvSpPr>
          <p:cNvPr name="TextBox 10" id="10"/>
          <p:cNvSpPr txBox="true"/>
          <p:nvPr/>
        </p:nvSpPr>
        <p:spPr>
          <a:xfrm rot="0">
            <a:off x="1114425" y="4192248"/>
            <a:ext cx="100012" cy="423863"/>
          </a:xfrm>
          <a:prstGeom prst="rect">
            <a:avLst/>
          </a:prstGeom>
        </p:spPr>
        <p:txBody>
          <a:bodyPr anchor="t" rtlCol="false" tIns="0" lIns="0" bIns="0" rIns="0">
            <a:spAutoFit/>
          </a:bodyPr>
          <a:lstStyle/>
          <a:p>
            <a:pPr algn="l">
              <a:lnSpc>
                <a:spcPts val="2430"/>
              </a:lnSpc>
            </a:pPr>
            <a:r>
              <a:rPr lang="en-US" sz="2025">
                <a:solidFill>
                  <a:srgbClr val="5C5248"/>
                </a:solidFill>
                <a:latin typeface="Open Sans"/>
                <a:ea typeface="Open Sans"/>
                <a:cs typeface="Open Sans"/>
                <a:sym typeface="Open Sans"/>
              </a:rPr>
              <a:t>•</a:t>
            </a:r>
          </a:p>
        </p:txBody>
      </p:sp>
      <p:sp>
        <p:nvSpPr>
          <p:cNvPr name="TextBox 11" id="11"/>
          <p:cNvSpPr txBox="true"/>
          <p:nvPr/>
        </p:nvSpPr>
        <p:spPr>
          <a:xfrm rot="0">
            <a:off x="1281112" y="4060327"/>
            <a:ext cx="7505700" cy="1377182"/>
          </a:xfrm>
          <a:prstGeom prst="rect">
            <a:avLst/>
          </a:prstGeom>
        </p:spPr>
        <p:txBody>
          <a:bodyPr anchor="t" rtlCol="false" tIns="0" lIns="0" bIns="0" rIns="0">
            <a:spAutoFit/>
          </a:bodyPr>
          <a:lstStyle/>
          <a:p>
            <a:pPr algn="l">
              <a:lnSpc>
                <a:spcPts val="3887"/>
              </a:lnSpc>
            </a:pPr>
            <a:r>
              <a:rPr lang="en-US" sz="2025">
                <a:solidFill>
                  <a:srgbClr val="5C5248"/>
                </a:solidFill>
                <a:latin typeface="Open Sans"/>
                <a:ea typeface="Open Sans"/>
                <a:cs typeface="Open Sans"/>
                <a:sym typeface="Open Sans"/>
              </a:rPr>
              <a:t>Utilizing interactive tools like the "Baggage Claim" game and popular media integration helps clients externalize deeply internalized guilt.</a:t>
            </a:r>
          </a:p>
        </p:txBody>
      </p:sp>
      <p:sp>
        <p:nvSpPr>
          <p:cNvPr name="TextBox 12" id="12"/>
          <p:cNvSpPr txBox="true"/>
          <p:nvPr/>
        </p:nvSpPr>
        <p:spPr>
          <a:xfrm rot="0">
            <a:off x="1114425" y="5640867"/>
            <a:ext cx="100012" cy="423863"/>
          </a:xfrm>
          <a:prstGeom prst="rect">
            <a:avLst/>
          </a:prstGeom>
        </p:spPr>
        <p:txBody>
          <a:bodyPr anchor="t" rtlCol="false" tIns="0" lIns="0" bIns="0" rIns="0">
            <a:spAutoFit/>
          </a:bodyPr>
          <a:lstStyle/>
          <a:p>
            <a:pPr algn="l">
              <a:lnSpc>
                <a:spcPts val="2430"/>
              </a:lnSpc>
            </a:pPr>
            <a:r>
              <a:rPr lang="en-US" sz="2025">
                <a:solidFill>
                  <a:srgbClr val="5C5248"/>
                </a:solidFill>
                <a:latin typeface="Open Sans"/>
                <a:ea typeface="Open Sans"/>
                <a:cs typeface="Open Sans"/>
                <a:sym typeface="Open Sans"/>
              </a:rPr>
              <a:t>•</a:t>
            </a:r>
          </a:p>
        </p:txBody>
      </p:sp>
      <p:sp>
        <p:nvSpPr>
          <p:cNvPr name="TextBox 13" id="13"/>
          <p:cNvSpPr txBox="true"/>
          <p:nvPr/>
        </p:nvSpPr>
        <p:spPr>
          <a:xfrm rot="0">
            <a:off x="1281112" y="5508946"/>
            <a:ext cx="7505700" cy="1377182"/>
          </a:xfrm>
          <a:prstGeom prst="rect">
            <a:avLst/>
          </a:prstGeom>
        </p:spPr>
        <p:txBody>
          <a:bodyPr anchor="t" rtlCol="false" tIns="0" lIns="0" bIns="0" rIns="0">
            <a:spAutoFit/>
          </a:bodyPr>
          <a:lstStyle/>
          <a:p>
            <a:pPr algn="l">
              <a:lnSpc>
                <a:spcPts val="3887"/>
              </a:lnSpc>
            </a:pPr>
            <a:r>
              <a:rPr lang="en-US" sz="2025">
                <a:solidFill>
                  <a:srgbClr val="5C5248"/>
                </a:solidFill>
                <a:latin typeface="Open Sans"/>
                <a:ea typeface="Open Sans"/>
                <a:cs typeface="Open Sans"/>
                <a:sym typeface="Open Sans"/>
              </a:rPr>
              <a:t>Healing requires a paradigm shift: the body is not broken; it is responding intelligently to a system of fear. The goal is a return to authentic embodiment.</a:t>
            </a:r>
          </a:p>
        </p:txBody>
      </p:sp>
      <p:grpSp>
        <p:nvGrpSpPr>
          <p:cNvPr name="Group 14" id="14"/>
          <p:cNvGrpSpPr/>
          <p:nvPr/>
        </p:nvGrpSpPr>
        <p:grpSpPr>
          <a:xfrm rot="0">
            <a:off x="9515475" y="2143125"/>
            <a:ext cx="7900988" cy="5686425"/>
            <a:chOff x="0" y="0"/>
            <a:chExt cx="10534650" cy="7581900"/>
          </a:xfrm>
        </p:grpSpPr>
        <p:sp>
          <p:nvSpPr>
            <p:cNvPr name="Freeform 15" id="15" descr="image.png"/>
            <p:cNvSpPr/>
            <p:nvPr/>
          </p:nvSpPr>
          <p:spPr>
            <a:xfrm flipH="false" flipV="false" rot="0">
              <a:off x="0" y="0"/>
              <a:ext cx="10534650" cy="7581900"/>
            </a:xfrm>
            <a:custGeom>
              <a:avLst/>
              <a:gdLst/>
              <a:ahLst/>
              <a:cxnLst/>
              <a:rect r="r" b="b" t="t" l="l"/>
              <a:pathLst>
                <a:path h="7581900" w="10534650">
                  <a:moveTo>
                    <a:pt x="0" y="0"/>
                  </a:moveTo>
                  <a:lnTo>
                    <a:pt x="10534650" y="0"/>
                  </a:lnTo>
                  <a:lnTo>
                    <a:pt x="10534650" y="7581900"/>
                  </a:lnTo>
                  <a:lnTo>
                    <a:pt x="0" y="7581900"/>
                  </a:lnTo>
                  <a:lnTo>
                    <a:pt x="0" y="0"/>
                  </a:lnTo>
                  <a:close/>
                </a:path>
              </a:pathLst>
            </a:custGeom>
            <a:blipFill>
              <a:blip r:embed="rId4"/>
              <a:stretch>
                <a:fillRect l="0" t="0" r="0" b="-140"/>
              </a:stretch>
            </a:blipFill>
          </p:spPr>
        </p:sp>
      </p:grpSp>
      <p:sp>
        <p:nvSpPr>
          <p:cNvPr name="TextBox 16" id="16"/>
          <p:cNvSpPr txBox="true"/>
          <p:nvPr/>
        </p:nvSpPr>
        <p:spPr>
          <a:xfrm rot="0">
            <a:off x="857250" y="857250"/>
            <a:ext cx="8059388" cy="685784"/>
          </a:xfrm>
          <a:prstGeom prst="rect">
            <a:avLst/>
          </a:prstGeom>
        </p:spPr>
        <p:txBody>
          <a:bodyPr anchor="t" rtlCol="false" tIns="0" lIns="0" bIns="0" rIns="0">
            <a:spAutoFit/>
          </a:bodyPr>
          <a:lstStyle/>
          <a:p>
            <a:pPr algn="l">
              <a:lnSpc>
                <a:spcPts val="5400"/>
              </a:lnSpc>
            </a:pPr>
            <a:r>
              <a:rPr lang="en-US" b="true" sz="4500">
                <a:solidFill>
                  <a:srgbClr val="8C7355"/>
                </a:solidFill>
                <a:latin typeface="Montserrat Bold"/>
                <a:ea typeface="Montserrat Bold"/>
                <a:cs typeface="Montserrat Bold"/>
                <a:sym typeface="Montserrat Bold"/>
              </a:rPr>
              <a:t>SUMMARY &amp; INTEGRATION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4F1E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442912" y="3372888"/>
            <a:ext cx="17402175" cy="1562100"/>
          </a:xfrm>
          <a:prstGeom prst="rect">
            <a:avLst/>
          </a:prstGeom>
        </p:spPr>
        <p:txBody>
          <a:bodyPr anchor="t" rtlCol="false" tIns="0" lIns="0" bIns="0" rIns="0">
            <a:spAutoFit/>
          </a:bodyPr>
          <a:lstStyle/>
          <a:p>
            <a:pPr algn="ctr">
              <a:lnSpc>
                <a:spcPts val="12150"/>
              </a:lnSpc>
            </a:pPr>
            <a:r>
              <a:rPr lang="en-US" b="true" sz="10125">
                <a:solidFill>
                  <a:srgbClr val="8C7355"/>
                </a:solidFill>
                <a:latin typeface="Montserrat Bold"/>
                <a:ea typeface="Montserrat Bold"/>
                <a:cs typeface="Montserrat Bold"/>
                <a:sym typeface="Montserrat Bold"/>
              </a:rPr>
              <a:t>Questions &amp; Discussion</a:t>
            </a:r>
          </a:p>
        </p:txBody>
      </p:sp>
      <p:sp>
        <p:nvSpPr>
          <p:cNvPr name="TextBox 5" id="5"/>
          <p:cNvSpPr txBox="true"/>
          <p:nvPr/>
        </p:nvSpPr>
        <p:spPr>
          <a:xfrm rot="0">
            <a:off x="857250" y="5030238"/>
            <a:ext cx="16573500" cy="739007"/>
          </a:xfrm>
          <a:prstGeom prst="rect">
            <a:avLst/>
          </a:prstGeom>
        </p:spPr>
        <p:txBody>
          <a:bodyPr anchor="t" rtlCol="false" tIns="0" lIns="0" bIns="0" rIns="0">
            <a:spAutoFit/>
          </a:bodyPr>
          <a:lstStyle/>
          <a:p>
            <a:pPr algn="ctr">
              <a:lnSpc>
                <a:spcPts val="5182"/>
              </a:lnSpc>
            </a:pPr>
            <a:r>
              <a:rPr lang="en-US" sz="2700">
                <a:solidFill>
                  <a:srgbClr val="5C5248"/>
                </a:solidFill>
                <a:latin typeface="Open Sans"/>
                <a:ea typeface="Open Sans"/>
                <a:cs typeface="Open Sans"/>
                <a:sym typeface="Open Sans"/>
              </a:rPr>
              <a:t>Thank you for engaging with this material.</a:t>
            </a:r>
          </a:p>
        </p:txBody>
      </p:sp>
      <p:sp>
        <p:nvSpPr>
          <p:cNvPr name="TextBox 6" id="6"/>
          <p:cNvSpPr txBox="true"/>
          <p:nvPr/>
        </p:nvSpPr>
        <p:spPr>
          <a:xfrm rot="0">
            <a:off x="857250" y="6155007"/>
            <a:ext cx="16573500" cy="554307"/>
          </a:xfrm>
          <a:prstGeom prst="rect">
            <a:avLst/>
          </a:prstGeom>
        </p:spPr>
        <p:txBody>
          <a:bodyPr anchor="t" rtlCol="false" tIns="0" lIns="0" bIns="0" rIns="0">
            <a:spAutoFit/>
          </a:bodyPr>
          <a:lstStyle/>
          <a:p>
            <a:pPr algn="ctr">
              <a:lnSpc>
                <a:spcPts val="3887"/>
              </a:lnSpc>
            </a:pPr>
            <a:r>
              <a:rPr lang="en-US" sz="2025">
                <a:solidFill>
                  <a:srgbClr val="6D5B45"/>
                </a:solidFill>
                <a:latin typeface="Open Sans"/>
                <a:ea typeface="Open Sans"/>
                <a:cs typeface="Open Sans"/>
                <a:sym typeface="Open Sans"/>
              </a:rPr>
              <a:t>Let's discuss applications to your specific clinical populations.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4F1E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857250" y="3291707"/>
            <a:ext cx="13244512" cy="14288"/>
            <a:chOff x="0" y="0"/>
            <a:chExt cx="17659350" cy="19050"/>
          </a:xfrm>
        </p:grpSpPr>
        <p:sp>
          <p:nvSpPr>
            <p:cNvPr name="Freeform 5" id="5"/>
            <p:cNvSpPr/>
            <p:nvPr/>
          </p:nvSpPr>
          <p:spPr>
            <a:xfrm flipH="false" flipV="false" rot="0">
              <a:off x="0" y="0"/>
              <a:ext cx="17659350" cy="19050"/>
            </a:xfrm>
            <a:custGeom>
              <a:avLst/>
              <a:gdLst/>
              <a:ahLst/>
              <a:cxnLst/>
              <a:rect r="r" b="b" t="t" l="l"/>
              <a:pathLst>
                <a:path h="19050" w="17659350">
                  <a:moveTo>
                    <a:pt x="0" y="0"/>
                  </a:moveTo>
                  <a:lnTo>
                    <a:pt x="17659350" y="0"/>
                  </a:lnTo>
                  <a:lnTo>
                    <a:pt x="17659350" y="19050"/>
                  </a:lnTo>
                  <a:lnTo>
                    <a:pt x="0" y="19050"/>
                  </a:lnTo>
                  <a:close/>
                </a:path>
              </a:pathLst>
            </a:custGeom>
            <a:solidFill>
              <a:srgbClr val="757575"/>
            </a:solidFill>
          </p:spPr>
        </p:sp>
      </p:grpSp>
      <p:grpSp>
        <p:nvGrpSpPr>
          <p:cNvPr name="Group 6" id="6"/>
          <p:cNvGrpSpPr/>
          <p:nvPr/>
        </p:nvGrpSpPr>
        <p:grpSpPr>
          <a:xfrm rot="0">
            <a:off x="857250" y="3291707"/>
            <a:ext cx="13244512" cy="14288"/>
            <a:chOff x="0" y="0"/>
            <a:chExt cx="17659350" cy="19050"/>
          </a:xfrm>
        </p:grpSpPr>
        <p:sp>
          <p:nvSpPr>
            <p:cNvPr name="Freeform 7" id="7"/>
            <p:cNvSpPr/>
            <p:nvPr/>
          </p:nvSpPr>
          <p:spPr>
            <a:xfrm flipH="false" flipV="false" rot="0">
              <a:off x="0" y="0"/>
              <a:ext cx="17659350" cy="19050"/>
            </a:xfrm>
            <a:custGeom>
              <a:avLst/>
              <a:gdLst/>
              <a:ahLst/>
              <a:cxnLst/>
              <a:rect r="r" b="b" t="t" l="l"/>
              <a:pathLst>
                <a:path h="19050" w="17659350">
                  <a:moveTo>
                    <a:pt x="0" y="0"/>
                  </a:moveTo>
                  <a:lnTo>
                    <a:pt x="17659350" y="0"/>
                  </a:lnTo>
                  <a:lnTo>
                    <a:pt x="17659350" y="19050"/>
                  </a:lnTo>
                  <a:lnTo>
                    <a:pt x="0" y="19050"/>
                  </a:lnTo>
                  <a:close/>
                </a:path>
              </a:pathLst>
            </a:custGeom>
            <a:solidFill>
              <a:srgbClr val="757575"/>
            </a:solidFill>
          </p:spPr>
        </p:sp>
      </p:grpSp>
      <p:grpSp>
        <p:nvGrpSpPr>
          <p:cNvPr name="Group 8" id="8"/>
          <p:cNvGrpSpPr/>
          <p:nvPr/>
        </p:nvGrpSpPr>
        <p:grpSpPr>
          <a:xfrm rot="0">
            <a:off x="857250" y="4468863"/>
            <a:ext cx="13244512" cy="14288"/>
            <a:chOff x="0" y="0"/>
            <a:chExt cx="17659350" cy="19050"/>
          </a:xfrm>
        </p:grpSpPr>
        <p:sp>
          <p:nvSpPr>
            <p:cNvPr name="Freeform 9" id="9"/>
            <p:cNvSpPr/>
            <p:nvPr/>
          </p:nvSpPr>
          <p:spPr>
            <a:xfrm flipH="false" flipV="false" rot="0">
              <a:off x="0" y="0"/>
              <a:ext cx="17659350" cy="19050"/>
            </a:xfrm>
            <a:custGeom>
              <a:avLst/>
              <a:gdLst/>
              <a:ahLst/>
              <a:cxnLst/>
              <a:rect r="r" b="b" t="t" l="l"/>
              <a:pathLst>
                <a:path h="19050" w="17659350">
                  <a:moveTo>
                    <a:pt x="0" y="0"/>
                  </a:moveTo>
                  <a:lnTo>
                    <a:pt x="17659350" y="0"/>
                  </a:lnTo>
                  <a:lnTo>
                    <a:pt x="17659350" y="19050"/>
                  </a:lnTo>
                  <a:lnTo>
                    <a:pt x="0" y="19050"/>
                  </a:lnTo>
                  <a:close/>
                </a:path>
              </a:pathLst>
            </a:custGeom>
            <a:solidFill>
              <a:srgbClr val="757575"/>
            </a:solidFill>
          </p:spPr>
        </p:sp>
      </p:grpSp>
      <p:grpSp>
        <p:nvGrpSpPr>
          <p:cNvPr name="Group 10" id="10"/>
          <p:cNvGrpSpPr/>
          <p:nvPr/>
        </p:nvGrpSpPr>
        <p:grpSpPr>
          <a:xfrm rot="0">
            <a:off x="857250" y="4468863"/>
            <a:ext cx="13244512" cy="14288"/>
            <a:chOff x="0" y="0"/>
            <a:chExt cx="17659350" cy="19050"/>
          </a:xfrm>
        </p:grpSpPr>
        <p:sp>
          <p:nvSpPr>
            <p:cNvPr name="Freeform 11" id="11"/>
            <p:cNvSpPr/>
            <p:nvPr/>
          </p:nvSpPr>
          <p:spPr>
            <a:xfrm flipH="false" flipV="false" rot="0">
              <a:off x="0" y="0"/>
              <a:ext cx="17659350" cy="19050"/>
            </a:xfrm>
            <a:custGeom>
              <a:avLst/>
              <a:gdLst/>
              <a:ahLst/>
              <a:cxnLst/>
              <a:rect r="r" b="b" t="t" l="l"/>
              <a:pathLst>
                <a:path h="19050" w="17659350">
                  <a:moveTo>
                    <a:pt x="0" y="0"/>
                  </a:moveTo>
                  <a:lnTo>
                    <a:pt x="17659350" y="0"/>
                  </a:lnTo>
                  <a:lnTo>
                    <a:pt x="17659350" y="19050"/>
                  </a:lnTo>
                  <a:lnTo>
                    <a:pt x="0" y="19050"/>
                  </a:lnTo>
                  <a:close/>
                </a:path>
              </a:pathLst>
            </a:custGeom>
            <a:solidFill>
              <a:srgbClr val="757575"/>
            </a:solidFill>
          </p:spPr>
        </p:sp>
      </p:grpSp>
      <p:grpSp>
        <p:nvGrpSpPr>
          <p:cNvPr name="Group 12" id="12"/>
          <p:cNvGrpSpPr/>
          <p:nvPr/>
        </p:nvGrpSpPr>
        <p:grpSpPr>
          <a:xfrm rot="0">
            <a:off x="857250" y="5646020"/>
            <a:ext cx="13244512" cy="14288"/>
            <a:chOff x="0" y="0"/>
            <a:chExt cx="17659350" cy="19050"/>
          </a:xfrm>
        </p:grpSpPr>
        <p:sp>
          <p:nvSpPr>
            <p:cNvPr name="Freeform 13" id="13"/>
            <p:cNvSpPr/>
            <p:nvPr/>
          </p:nvSpPr>
          <p:spPr>
            <a:xfrm flipH="false" flipV="false" rot="0">
              <a:off x="0" y="0"/>
              <a:ext cx="17659350" cy="19050"/>
            </a:xfrm>
            <a:custGeom>
              <a:avLst/>
              <a:gdLst/>
              <a:ahLst/>
              <a:cxnLst/>
              <a:rect r="r" b="b" t="t" l="l"/>
              <a:pathLst>
                <a:path h="19050" w="17659350">
                  <a:moveTo>
                    <a:pt x="0" y="0"/>
                  </a:moveTo>
                  <a:lnTo>
                    <a:pt x="17659350" y="0"/>
                  </a:lnTo>
                  <a:lnTo>
                    <a:pt x="17659350" y="19050"/>
                  </a:lnTo>
                  <a:lnTo>
                    <a:pt x="0" y="19050"/>
                  </a:lnTo>
                  <a:close/>
                </a:path>
              </a:pathLst>
            </a:custGeom>
            <a:solidFill>
              <a:srgbClr val="757575"/>
            </a:solidFill>
          </p:spPr>
        </p:sp>
      </p:grpSp>
      <p:grpSp>
        <p:nvGrpSpPr>
          <p:cNvPr name="Group 14" id="14"/>
          <p:cNvGrpSpPr/>
          <p:nvPr/>
        </p:nvGrpSpPr>
        <p:grpSpPr>
          <a:xfrm rot="0">
            <a:off x="857250" y="5646020"/>
            <a:ext cx="13244512" cy="14288"/>
            <a:chOff x="0" y="0"/>
            <a:chExt cx="17659350" cy="19050"/>
          </a:xfrm>
        </p:grpSpPr>
        <p:sp>
          <p:nvSpPr>
            <p:cNvPr name="Freeform 15" id="15"/>
            <p:cNvSpPr/>
            <p:nvPr/>
          </p:nvSpPr>
          <p:spPr>
            <a:xfrm flipH="false" flipV="false" rot="0">
              <a:off x="0" y="0"/>
              <a:ext cx="17659350" cy="19050"/>
            </a:xfrm>
            <a:custGeom>
              <a:avLst/>
              <a:gdLst/>
              <a:ahLst/>
              <a:cxnLst/>
              <a:rect r="r" b="b" t="t" l="l"/>
              <a:pathLst>
                <a:path h="19050" w="17659350">
                  <a:moveTo>
                    <a:pt x="0" y="0"/>
                  </a:moveTo>
                  <a:lnTo>
                    <a:pt x="17659350" y="0"/>
                  </a:lnTo>
                  <a:lnTo>
                    <a:pt x="17659350" y="19050"/>
                  </a:lnTo>
                  <a:lnTo>
                    <a:pt x="0" y="19050"/>
                  </a:lnTo>
                  <a:close/>
                </a:path>
              </a:pathLst>
            </a:custGeom>
            <a:solidFill>
              <a:srgbClr val="757575"/>
            </a:solidFill>
          </p:spPr>
        </p:sp>
      </p:grpSp>
      <p:grpSp>
        <p:nvGrpSpPr>
          <p:cNvPr name="Group 16" id="16"/>
          <p:cNvGrpSpPr/>
          <p:nvPr/>
        </p:nvGrpSpPr>
        <p:grpSpPr>
          <a:xfrm rot="0">
            <a:off x="857250" y="2352970"/>
            <a:ext cx="1285875" cy="714375"/>
            <a:chOff x="0" y="0"/>
            <a:chExt cx="1714500" cy="952500"/>
          </a:xfrm>
        </p:grpSpPr>
        <p:sp>
          <p:nvSpPr>
            <p:cNvPr name="Freeform 17" id="17" descr="image.png"/>
            <p:cNvSpPr/>
            <p:nvPr/>
          </p:nvSpPr>
          <p:spPr>
            <a:xfrm flipH="false" flipV="false" rot="0">
              <a:off x="0" y="0"/>
              <a:ext cx="1714500" cy="952500"/>
            </a:xfrm>
            <a:custGeom>
              <a:avLst/>
              <a:gdLst/>
              <a:ahLst/>
              <a:cxnLst/>
              <a:rect r="r" b="b" t="t" l="l"/>
              <a:pathLst>
                <a:path h="952500" w="1714500">
                  <a:moveTo>
                    <a:pt x="0" y="0"/>
                  </a:moveTo>
                  <a:lnTo>
                    <a:pt x="1714500" y="0"/>
                  </a:lnTo>
                  <a:lnTo>
                    <a:pt x="1714500" y="952500"/>
                  </a:lnTo>
                  <a:lnTo>
                    <a:pt x="0" y="952500"/>
                  </a:lnTo>
                  <a:lnTo>
                    <a:pt x="0" y="0"/>
                  </a:lnTo>
                  <a:close/>
                </a:path>
              </a:pathLst>
            </a:custGeom>
            <a:blipFill>
              <a:blip r:embed="rId3"/>
              <a:stretch>
                <a:fillRect l="0" t="0" r="0" b="-2000"/>
              </a:stretch>
            </a:blipFill>
          </p:spPr>
        </p:sp>
      </p:grpSp>
      <p:sp>
        <p:nvSpPr>
          <p:cNvPr name="TextBox 18" id="18"/>
          <p:cNvSpPr txBox="true"/>
          <p:nvPr/>
        </p:nvSpPr>
        <p:spPr>
          <a:xfrm rot="0">
            <a:off x="2500312" y="2238375"/>
            <a:ext cx="11601450" cy="401907"/>
          </a:xfrm>
          <a:prstGeom prst="rect">
            <a:avLst/>
          </a:prstGeom>
        </p:spPr>
        <p:txBody>
          <a:bodyPr anchor="t" rtlCol="false" tIns="0" lIns="0" bIns="0" rIns="0">
            <a:spAutoFit/>
          </a:bodyPr>
          <a:lstStyle/>
          <a:p>
            <a:pPr algn="l">
              <a:lnSpc>
                <a:spcPts val="2808"/>
              </a:lnSpc>
            </a:pPr>
            <a:r>
              <a:rPr lang="en-US" sz="1462">
                <a:solidFill>
                  <a:srgbClr val="5C5248"/>
                </a:solidFill>
                <a:latin typeface="Open Sans"/>
                <a:ea typeface="Open Sans"/>
                <a:cs typeface="Open Sans"/>
                <a:sym typeface="Open Sans"/>
              </a:rPr>
              <a:t>https://www.lemon8-app.com/seo/image?item_id=7530164379908719134&amp;index=0&amp;sign=ee783ff238c980e15360c269d85c5ada</a:t>
            </a:r>
          </a:p>
        </p:txBody>
      </p:sp>
      <p:sp>
        <p:nvSpPr>
          <p:cNvPr name="TextBox 19" id="19"/>
          <p:cNvSpPr txBox="true"/>
          <p:nvPr/>
        </p:nvSpPr>
        <p:spPr>
          <a:xfrm rot="0">
            <a:off x="2500312" y="2597420"/>
            <a:ext cx="11601450" cy="479974"/>
          </a:xfrm>
          <a:prstGeom prst="rect">
            <a:avLst/>
          </a:prstGeom>
        </p:spPr>
        <p:txBody>
          <a:bodyPr anchor="t" rtlCol="false" tIns="0" lIns="0" bIns="0" rIns="0">
            <a:spAutoFit/>
          </a:bodyPr>
          <a:lstStyle/>
          <a:p>
            <a:pPr algn="l">
              <a:lnSpc>
                <a:spcPts val="3456"/>
              </a:lnSpc>
            </a:pPr>
            <a:r>
              <a:rPr lang="en-US" sz="1800">
                <a:solidFill>
                  <a:srgbClr val="5C5248"/>
                </a:solidFill>
                <a:latin typeface="Open Sans"/>
                <a:ea typeface="Open Sans"/>
                <a:cs typeface="Open Sans"/>
                <a:sym typeface="Open Sans"/>
              </a:rPr>
              <a:t>Source: </a:t>
            </a:r>
            <a:r>
              <a:rPr lang="en-US" sz="1800">
                <a:solidFill>
                  <a:srgbClr val="4F46E5"/>
                </a:solidFill>
                <a:latin typeface="Open Sans"/>
                <a:ea typeface="Open Sans"/>
                <a:cs typeface="Open Sans"/>
                <a:sym typeface="Open Sans"/>
              </a:rPr>
              <a:t>www.lemon8-app.com</a:t>
            </a:r>
          </a:p>
        </p:txBody>
      </p:sp>
      <p:grpSp>
        <p:nvGrpSpPr>
          <p:cNvPr name="Group 20" id="20"/>
          <p:cNvGrpSpPr/>
          <p:nvPr/>
        </p:nvGrpSpPr>
        <p:grpSpPr>
          <a:xfrm rot="0">
            <a:off x="857250" y="3530127"/>
            <a:ext cx="1285875" cy="714375"/>
            <a:chOff x="0" y="0"/>
            <a:chExt cx="1714500" cy="952500"/>
          </a:xfrm>
        </p:grpSpPr>
        <p:sp>
          <p:nvSpPr>
            <p:cNvPr name="Freeform 21" id="21" descr="image.png"/>
            <p:cNvSpPr/>
            <p:nvPr/>
          </p:nvSpPr>
          <p:spPr>
            <a:xfrm flipH="false" flipV="false" rot="0">
              <a:off x="0" y="0"/>
              <a:ext cx="1714500" cy="952500"/>
            </a:xfrm>
            <a:custGeom>
              <a:avLst/>
              <a:gdLst/>
              <a:ahLst/>
              <a:cxnLst/>
              <a:rect r="r" b="b" t="t" l="l"/>
              <a:pathLst>
                <a:path h="952500" w="1714500">
                  <a:moveTo>
                    <a:pt x="0" y="0"/>
                  </a:moveTo>
                  <a:lnTo>
                    <a:pt x="1714500" y="0"/>
                  </a:lnTo>
                  <a:lnTo>
                    <a:pt x="1714500" y="952500"/>
                  </a:lnTo>
                  <a:lnTo>
                    <a:pt x="0" y="952500"/>
                  </a:lnTo>
                  <a:lnTo>
                    <a:pt x="0" y="0"/>
                  </a:lnTo>
                  <a:close/>
                </a:path>
              </a:pathLst>
            </a:custGeom>
            <a:blipFill>
              <a:blip r:embed="rId4"/>
              <a:stretch>
                <a:fillRect l="0" t="0" r="0" b="-2000"/>
              </a:stretch>
            </a:blipFill>
          </p:spPr>
        </p:sp>
      </p:grpSp>
      <p:sp>
        <p:nvSpPr>
          <p:cNvPr name="TextBox 22" id="22"/>
          <p:cNvSpPr txBox="true"/>
          <p:nvPr/>
        </p:nvSpPr>
        <p:spPr>
          <a:xfrm rot="0">
            <a:off x="2500312" y="3415532"/>
            <a:ext cx="11601450" cy="401907"/>
          </a:xfrm>
          <a:prstGeom prst="rect">
            <a:avLst/>
          </a:prstGeom>
        </p:spPr>
        <p:txBody>
          <a:bodyPr anchor="t" rtlCol="false" tIns="0" lIns="0" bIns="0" rIns="0">
            <a:spAutoFit/>
          </a:bodyPr>
          <a:lstStyle/>
          <a:p>
            <a:pPr algn="l">
              <a:lnSpc>
                <a:spcPts val="2808"/>
              </a:lnSpc>
            </a:pPr>
            <a:r>
              <a:rPr lang="en-US" sz="1462">
                <a:solidFill>
                  <a:srgbClr val="5C5248"/>
                </a:solidFill>
                <a:latin typeface="Open Sans"/>
                <a:ea typeface="Open Sans"/>
                <a:cs typeface="Open Sans"/>
                <a:sym typeface="Open Sans"/>
              </a:rPr>
              <a:t>https://www.lemon8-app.com/seo/image?item_id=7551964687504523789&amp;index=2&amp;sign=c105cf911e77b3b6eecd5f2add82445d</a:t>
            </a:r>
          </a:p>
        </p:txBody>
      </p:sp>
      <p:sp>
        <p:nvSpPr>
          <p:cNvPr name="TextBox 23" id="23"/>
          <p:cNvSpPr txBox="true"/>
          <p:nvPr/>
        </p:nvSpPr>
        <p:spPr>
          <a:xfrm rot="0">
            <a:off x="2500312" y="3774577"/>
            <a:ext cx="11601450" cy="479974"/>
          </a:xfrm>
          <a:prstGeom prst="rect">
            <a:avLst/>
          </a:prstGeom>
        </p:spPr>
        <p:txBody>
          <a:bodyPr anchor="t" rtlCol="false" tIns="0" lIns="0" bIns="0" rIns="0">
            <a:spAutoFit/>
          </a:bodyPr>
          <a:lstStyle/>
          <a:p>
            <a:pPr algn="l">
              <a:lnSpc>
                <a:spcPts val="3456"/>
              </a:lnSpc>
            </a:pPr>
            <a:r>
              <a:rPr lang="en-US" sz="1800">
                <a:solidFill>
                  <a:srgbClr val="5C5248"/>
                </a:solidFill>
                <a:latin typeface="Open Sans"/>
                <a:ea typeface="Open Sans"/>
                <a:cs typeface="Open Sans"/>
                <a:sym typeface="Open Sans"/>
              </a:rPr>
              <a:t>Source: </a:t>
            </a:r>
            <a:r>
              <a:rPr lang="en-US" sz="1800">
                <a:solidFill>
                  <a:srgbClr val="4F46E5"/>
                </a:solidFill>
                <a:latin typeface="Open Sans"/>
                <a:ea typeface="Open Sans"/>
                <a:cs typeface="Open Sans"/>
                <a:sym typeface="Open Sans"/>
              </a:rPr>
              <a:t>www.lemon8-app.com</a:t>
            </a:r>
          </a:p>
        </p:txBody>
      </p:sp>
      <p:grpSp>
        <p:nvGrpSpPr>
          <p:cNvPr name="Group 24" id="24"/>
          <p:cNvGrpSpPr/>
          <p:nvPr/>
        </p:nvGrpSpPr>
        <p:grpSpPr>
          <a:xfrm rot="0">
            <a:off x="857250" y="4707284"/>
            <a:ext cx="1285875" cy="714375"/>
            <a:chOff x="0" y="0"/>
            <a:chExt cx="1714500" cy="952500"/>
          </a:xfrm>
        </p:grpSpPr>
        <p:sp>
          <p:nvSpPr>
            <p:cNvPr name="Freeform 25" id="25" descr="image.png"/>
            <p:cNvSpPr/>
            <p:nvPr/>
          </p:nvSpPr>
          <p:spPr>
            <a:xfrm flipH="false" flipV="false" rot="0">
              <a:off x="0" y="0"/>
              <a:ext cx="1714500" cy="952500"/>
            </a:xfrm>
            <a:custGeom>
              <a:avLst/>
              <a:gdLst/>
              <a:ahLst/>
              <a:cxnLst/>
              <a:rect r="r" b="b" t="t" l="l"/>
              <a:pathLst>
                <a:path h="952500" w="1714500">
                  <a:moveTo>
                    <a:pt x="0" y="0"/>
                  </a:moveTo>
                  <a:lnTo>
                    <a:pt x="1714500" y="0"/>
                  </a:lnTo>
                  <a:lnTo>
                    <a:pt x="1714500" y="952500"/>
                  </a:lnTo>
                  <a:lnTo>
                    <a:pt x="0" y="952500"/>
                  </a:lnTo>
                  <a:lnTo>
                    <a:pt x="0" y="0"/>
                  </a:lnTo>
                  <a:close/>
                </a:path>
              </a:pathLst>
            </a:custGeom>
            <a:blipFill>
              <a:blip r:embed="rId5"/>
              <a:stretch>
                <a:fillRect l="0" t="0" r="0" b="-2000"/>
              </a:stretch>
            </a:blipFill>
          </p:spPr>
        </p:sp>
      </p:grpSp>
      <p:sp>
        <p:nvSpPr>
          <p:cNvPr name="TextBox 26" id="26"/>
          <p:cNvSpPr txBox="true"/>
          <p:nvPr/>
        </p:nvSpPr>
        <p:spPr>
          <a:xfrm rot="0">
            <a:off x="2500312" y="4592688"/>
            <a:ext cx="11601450" cy="401907"/>
          </a:xfrm>
          <a:prstGeom prst="rect">
            <a:avLst/>
          </a:prstGeom>
        </p:spPr>
        <p:txBody>
          <a:bodyPr anchor="t" rtlCol="false" tIns="0" lIns="0" bIns="0" rIns="0">
            <a:spAutoFit/>
          </a:bodyPr>
          <a:lstStyle/>
          <a:p>
            <a:pPr algn="l">
              <a:lnSpc>
                <a:spcPts val="2808"/>
              </a:lnSpc>
            </a:pPr>
            <a:r>
              <a:rPr lang="en-US" sz="1462">
                <a:solidFill>
                  <a:srgbClr val="5C5248"/>
                </a:solidFill>
                <a:latin typeface="Open Sans"/>
                <a:ea typeface="Open Sans"/>
                <a:cs typeface="Open Sans"/>
                <a:sym typeface="Open Sans"/>
              </a:rPr>
              <a:t>https://www.metmuseum.org/-/media/images/exhibitions/2021/ps-art-2021/slideshow/psart2021_010.jpg?sc_lang=en?mw=893&amp;mh=520</a:t>
            </a:r>
          </a:p>
        </p:txBody>
      </p:sp>
      <p:sp>
        <p:nvSpPr>
          <p:cNvPr name="TextBox 27" id="27"/>
          <p:cNvSpPr txBox="true"/>
          <p:nvPr/>
        </p:nvSpPr>
        <p:spPr>
          <a:xfrm rot="0">
            <a:off x="4270639" y="4846363"/>
            <a:ext cx="11601450" cy="479974"/>
          </a:xfrm>
          <a:prstGeom prst="rect">
            <a:avLst/>
          </a:prstGeom>
        </p:spPr>
        <p:txBody>
          <a:bodyPr anchor="t" rtlCol="false" tIns="0" lIns="0" bIns="0" rIns="0">
            <a:spAutoFit/>
          </a:bodyPr>
          <a:lstStyle/>
          <a:p>
            <a:pPr algn="l">
              <a:lnSpc>
                <a:spcPts val="3456"/>
              </a:lnSpc>
            </a:pPr>
            <a:r>
              <a:rPr lang="en-US" sz="1800">
                <a:solidFill>
                  <a:srgbClr val="5C5248"/>
                </a:solidFill>
                <a:latin typeface="Open Sans"/>
                <a:ea typeface="Open Sans"/>
                <a:cs typeface="Open Sans"/>
                <a:sym typeface="Open Sans"/>
              </a:rPr>
              <a:t>Source: </a:t>
            </a:r>
            <a:r>
              <a:rPr lang="en-US" sz="1800">
                <a:solidFill>
                  <a:srgbClr val="4F46E5"/>
                </a:solidFill>
                <a:latin typeface="Open Sans"/>
                <a:ea typeface="Open Sans"/>
                <a:cs typeface="Open Sans"/>
                <a:sym typeface="Open Sans"/>
              </a:rPr>
              <a:t>www.metmuseum.org</a:t>
            </a:r>
          </a:p>
        </p:txBody>
      </p:sp>
      <p:grpSp>
        <p:nvGrpSpPr>
          <p:cNvPr name="Group 28" id="28"/>
          <p:cNvGrpSpPr/>
          <p:nvPr/>
        </p:nvGrpSpPr>
        <p:grpSpPr>
          <a:xfrm rot="0">
            <a:off x="857250" y="5884440"/>
            <a:ext cx="1285875" cy="714375"/>
            <a:chOff x="0" y="0"/>
            <a:chExt cx="1714500" cy="952500"/>
          </a:xfrm>
        </p:grpSpPr>
        <p:sp>
          <p:nvSpPr>
            <p:cNvPr name="Freeform 29" id="29" descr="image.png"/>
            <p:cNvSpPr/>
            <p:nvPr/>
          </p:nvSpPr>
          <p:spPr>
            <a:xfrm flipH="false" flipV="false" rot="0">
              <a:off x="0" y="0"/>
              <a:ext cx="1714500" cy="952500"/>
            </a:xfrm>
            <a:custGeom>
              <a:avLst/>
              <a:gdLst/>
              <a:ahLst/>
              <a:cxnLst/>
              <a:rect r="r" b="b" t="t" l="l"/>
              <a:pathLst>
                <a:path h="952500" w="1714500">
                  <a:moveTo>
                    <a:pt x="0" y="0"/>
                  </a:moveTo>
                  <a:lnTo>
                    <a:pt x="1714500" y="0"/>
                  </a:lnTo>
                  <a:lnTo>
                    <a:pt x="1714500" y="952500"/>
                  </a:lnTo>
                  <a:lnTo>
                    <a:pt x="0" y="952500"/>
                  </a:lnTo>
                  <a:lnTo>
                    <a:pt x="0" y="0"/>
                  </a:lnTo>
                  <a:close/>
                </a:path>
              </a:pathLst>
            </a:custGeom>
            <a:blipFill>
              <a:blip r:embed="rId6"/>
              <a:stretch>
                <a:fillRect l="0" t="0" r="0" b="-2000"/>
              </a:stretch>
            </a:blipFill>
          </p:spPr>
        </p:sp>
      </p:grpSp>
      <p:sp>
        <p:nvSpPr>
          <p:cNvPr name="TextBox 30" id="30"/>
          <p:cNvSpPr txBox="true"/>
          <p:nvPr/>
        </p:nvSpPr>
        <p:spPr>
          <a:xfrm rot="0">
            <a:off x="2500312" y="5769845"/>
            <a:ext cx="11601450" cy="401907"/>
          </a:xfrm>
          <a:prstGeom prst="rect">
            <a:avLst/>
          </a:prstGeom>
        </p:spPr>
        <p:txBody>
          <a:bodyPr anchor="t" rtlCol="false" tIns="0" lIns="0" bIns="0" rIns="0">
            <a:spAutoFit/>
          </a:bodyPr>
          <a:lstStyle/>
          <a:p>
            <a:pPr algn="l">
              <a:lnSpc>
                <a:spcPts val="2808"/>
              </a:lnSpc>
            </a:pPr>
            <a:r>
              <a:rPr lang="en-US" sz="1462">
                <a:solidFill>
                  <a:srgbClr val="5C5248"/>
                </a:solidFill>
                <a:latin typeface="Open Sans"/>
                <a:ea typeface="Open Sans"/>
                <a:cs typeface="Open Sans"/>
                <a:sym typeface="Open Sans"/>
              </a:rPr>
              <a:t>http://goayo.com/cdn/shop/articles/img-1_jpg_a4de37a0-dbc2-4f3f-9fd5-6c5e398ddc17.webp?v=1763401529</a:t>
            </a:r>
          </a:p>
        </p:txBody>
      </p:sp>
      <p:sp>
        <p:nvSpPr>
          <p:cNvPr name="TextBox 31" id="31"/>
          <p:cNvSpPr txBox="true"/>
          <p:nvPr/>
        </p:nvSpPr>
        <p:spPr>
          <a:xfrm rot="0">
            <a:off x="2500312" y="6128890"/>
            <a:ext cx="11601450" cy="479974"/>
          </a:xfrm>
          <a:prstGeom prst="rect">
            <a:avLst/>
          </a:prstGeom>
        </p:spPr>
        <p:txBody>
          <a:bodyPr anchor="t" rtlCol="false" tIns="0" lIns="0" bIns="0" rIns="0">
            <a:spAutoFit/>
          </a:bodyPr>
          <a:lstStyle/>
          <a:p>
            <a:pPr algn="l">
              <a:lnSpc>
                <a:spcPts val="3456"/>
              </a:lnSpc>
            </a:pPr>
            <a:r>
              <a:rPr lang="en-US" sz="1800">
                <a:solidFill>
                  <a:srgbClr val="5C5248"/>
                </a:solidFill>
                <a:latin typeface="Open Sans"/>
                <a:ea typeface="Open Sans"/>
                <a:cs typeface="Open Sans"/>
                <a:sym typeface="Open Sans"/>
              </a:rPr>
              <a:t>Source: </a:t>
            </a:r>
            <a:r>
              <a:rPr lang="en-US" sz="1800">
                <a:solidFill>
                  <a:srgbClr val="4F46E5"/>
                </a:solidFill>
                <a:latin typeface="Open Sans"/>
                <a:ea typeface="Open Sans"/>
                <a:cs typeface="Open Sans"/>
                <a:sym typeface="Open Sans"/>
              </a:rPr>
              <a:t>goayo.com</a:t>
            </a:r>
          </a:p>
        </p:txBody>
      </p:sp>
      <p:sp>
        <p:nvSpPr>
          <p:cNvPr name="TextBox 32" id="32"/>
          <p:cNvSpPr txBox="true"/>
          <p:nvPr/>
        </p:nvSpPr>
        <p:spPr>
          <a:xfrm rot="0">
            <a:off x="857250" y="857250"/>
            <a:ext cx="17402175" cy="700088"/>
          </a:xfrm>
          <a:prstGeom prst="rect">
            <a:avLst/>
          </a:prstGeom>
        </p:spPr>
        <p:txBody>
          <a:bodyPr anchor="t" rtlCol="false" tIns="0" lIns="0" bIns="0" rIns="0">
            <a:spAutoFit/>
          </a:bodyPr>
          <a:lstStyle/>
          <a:p>
            <a:pPr algn="l">
              <a:lnSpc>
                <a:spcPts val="5400"/>
              </a:lnSpc>
            </a:pPr>
            <a:r>
              <a:rPr lang="en-US" sz="4500">
                <a:solidFill>
                  <a:srgbClr val="8C7355"/>
                </a:solidFill>
                <a:latin typeface="Montserrat"/>
                <a:ea typeface="Montserrat"/>
                <a:cs typeface="Montserrat"/>
                <a:sym typeface="Montserrat"/>
              </a:rPr>
              <a:t>IMAGE SOURCES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4F1EA"/>
        </a:solidFill>
      </p:bgPr>
    </p:bg>
    <p:spTree>
      <p:nvGrpSpPr>
        <p:cNvPr id="1" name=""/>
        <p:cNvGrpSpPr/>
        <p:nvPr/>
      </p:nvGrpSpPr>
      <p:grpSpPr>
        <a:xfrm>
          <a:off x="0" y="0"/>
          <a:ext cx="0" cy="0"/>
          <a:chOff x="0" y="0"/>
          <a:chExt cx="0" cy="0"/>
        </a:xfrm>
      </p:grpSpPr>
      <p:sp>
        <p:nvSpPr>
          <p:cNvPr name="TextBox 2" id="2"/>
          <p:cNvSpPr txBox="true"/>
          <p:nvPr/>
        </p:nvSpPr>
        <p:spPr>
          <a:xfrm rot="0">
            <a:off x="549376" y="1622140"/>
            <a:ext cx="17189248" cy="7968724"/>
          </a:xfrm>
          <a:prstGeom prst="rect">
            <a:avLst/>
          </a:prstGeom>
        </p:spPr>
        <p:txBody>
          <a:bodyPr anchor="t" rtlCol="false" tIns="0" lIns="0" bIns="0" rIns="0">
            <a:spAutoFit/>
          </a:bodyPr>
          <a:lstStyle/>
          <a:p>
            <a:pPr algn="l">
              <a:lnSpc>
                <a:spcPts val="2688"/>
              </a:lnSpc>
            </a:pPr>
            <a:r>
              <a:rPr lang="en-US" sz="1400">
                <a:solidFill>
                  <a:srgbClr val="8C7355"/>
                </a:solidFill>
                <a:latin typeface="Open Sans"/>
                <a:ea typeface="Open Sans"/>
                <a:cs typeface="Open Sans"/>
                <a:sym typeface="Open Sans"/>
              </a:rPr>
              <a:t>Alper, B. A., Tevington, P., Kallo, A., &amp; Diamant, J. (2025). How parents are raising their children, religiously. Pew Research Center. </a:t>
            </a:r>
            <a:r>
              <a:rPr lang="en-US" sz="1400" u="sng">
                <a:solidFill>
                  <a:srgbClr val="8C7355"/>
                </a:solidFill>
                <a:latin typeface="Open Sans"/>
                <a:ea typeface="Open Sans"/>
                <a:cs typeface="Open Sans"/>
                <a:sym typeface="Open Sans"/>
                <a:hlinkClick r:id="rId2" tooltip="https://www.pewresearch.org/religion/2025/12/15/how-parents-are-raising-their-children-religiously/"/>
              </a:rPr>
              <a:t>https://www.pewresearch.org/religion/2025/12/15/how-parents-are-raising-their-children-religiously/</a:t>
            </a:r>
            <a:r>
              <a:rPr lang="en-US" sz="1400">
                <a:solidFill>
                  <a:srgbClr val="8C7355"/>
                </a:solidFill>
                <a:latin typeface="Open Sans"/>
                <a:ea typeface="Open Sans"/>
                <a:cs typeface="Open Sans"/>
                <a:sym typeface="Open Sans"/>
              </a:rPr>
              <a:t>Azim, K. A., Happel-Parkins, A., Moses, A., &amp; Haardoerfer, R. (2021). Exploring relationships between genito-pelvic pain/penetration disorder, sex guilt, and religiosity among college women in the U.S. The Journal of Sexual Medicine, 18(4), 770–782. https://doi.org/10.1016/j.jsxm.2021.02.003</a:t>
            </a:r>
          </a:p>
          <a:p>
            <a:pPr algn="l">
              <a:lnSpc>
                <a:spcPts val="2688"/>
              </a:lnSpc>
            </a:pPr>
            <a:r>
              <a:rPr lang="en-US" sz="1400">
                <a:solidFill>
                  <a:srgbClr val="8C7355"/>
                </a:solidFill>
                <a:latin typeface="Open Sans"/>
                <a:ea typeface="Open Sans"/>
                <a:cs typeface="Open Sans"/>
                <a:sym typeface="Open Sans"/>
              </a:rPr>
              <a:t>Greenstein, D. (2019). Affirmative interpretive translation of Leviticus 18:22. Keshet. </a:t>
            </a:r>
            <a:r>
              <a:rPr lang="en-US" sz="1400" u="sng">
                <a:solidFill>
                  <a:srgbClr val="8C7355"/>
                </a:solidFill>
                <a:latin typeface="Open Sans"/>
                <a:ea typeface="Open Sans"/>
                <a:cs typeface="Open Sans"/>
                <a:sym typeface="Open Sans"/>
                <a:hlinkClick r:id="rId3" tooltip="https://www.keshetonline.org/resources/affirmative-interpretive-translation-of-leviticus-1822/"/>
              </a:rPr>
              <a:t>https://www.keshetonline.org/resources/affirmative-interpretive-translation-of-leviticus-1822/</a:t>
            </a:r>
          </a:p>
          <a:p>
            <a:pPr algn="l">
              <a:lnSpc>
                <a:spcPts val="2688"/>
              </a:lnSpc>
            </a:pPr>
            <a:r>
              <a:rPr lang="en-US" sz="1400">
                <a:solidFill>
                  <a:srgbClr val="8C7355"/>
                </a:solidFill>
                <a:latin typeface="Open Sans"/>
                <a:ea typeface="Open Sans"/>
                <a:cs typeface="Open Sans"/>
                <a:sym typeface="Open Sans"/>
              </a:rPr>
              <a:t>Sexual shame and purity culture study. PubMed. https://pubmed.ncbi.nlm.nih.gov/41983601/ </a:t>
            </a:r>
          </a:p>
          <a:p>
            <a:pPr algn="l">
              <a:lnSpc>
                <a:spcPts val="2688"/>
              </a:lnSpc>
            </a:pPr>
            <a:r>
              <a:rPr lang="en-US" sz="1400">
                <a:solidFill>
                  <a:srgbClr val="8C7355"/>
                </a:solidFill>
                <a:latin typeface="Open Sans"/>
                <a:ea typeface="Open Sans"/>
                <a:cs typeface="Open Sans"/>
                <a:sym typeface="Open Sans"/>
              </a:rPr>
              <a:t>Henderson, K. R., &amp; Burdette, A. M. (2026). Purity culture and sexual shame among adults with Christian religious backgrounds. Journal of Counseling Sexology &amp; Sexual Wellness, 7(1), Article 1. https://digitalcommons.unf.edu/jcssw/vol7/iss1/1/ </a:t>
            </a:r>
          </a:p>
          <a:p>
            <a:pPr algn="l">
              <a:lnSpc>
                <a:spcPts val="2688"/>
              </a:lnSpc>
            </a:pPr>
            <a:r>
              <a:rPr lang="en-US" sz="1400">
                <a:solidFill>
                  <a:srgbClr val="8C7355"/>
                </a:solidFill>
                <a:latin typeface="Open Sans"/>
                <a:ea typeface="Open Sans"/>
                <a:cs typeface="Open Sans"/>
                <a:sym typeface="Open Sans"/>
              </a:rPr>
              <a:t>Nagoski, E. (2021). Come as you are: Revised and updated: The surprising new science that will transform your sex life. Simon &amp; Schuster.</a:t>
            </a:r>
          </a:p>
          <a:p>
            <a:pPr algn="l">
              <a:lnSpc>
                <a:spcPts val="2688"/>
              </a:lnSpc>
            </a:pPr>
            <a:r>
              <a:rPr lang="en-US" sz="1400">
                <a:solidFill>
                  <a:srgbClr val="8C7355"/>
                </a:solidFill>
                <a:latin typeface="Open Sans"/>
                <a:ea typeface="Open Sans"/>
                <a:cs typeface="Open Sans"/>
                <a:sym typeface="Open Sans"/>
              </a:rPr>
              <a:t>Klein, L. K. (2018). Pure: Inside the evangelical movement that shamed a generation of young women and how I broke free. Touchstone. </a:t>
            </a:r>
          </a:p>
          <a:p>
            <a:pPr algn="l">
              <a:lnSpc>
                <a:spcPts val="2688"/>
              </a:lnSpc>
            </a:pPr>
            <a:r>
              <a:rPr lang="en-US" sz="1400">
                <a:solidFill>
                  <a:srgbClr val="8C7355"/>
                </a:solidFill>
                <a:latin typeface="Open Sans"/>
                <a:ea typeface="Open Sans"/>
                <a:cs typeface="Open Sans"/>
                <a:sym typeface="Open Sans"/>
              </a:rPr>
              <a:t>Schermer Sellers, T. (2017). Sex, God, and the conservative church: Erasing shame from sexual intimacy. Routledge. </a:t>
            </a:r>
          </a:p>
          <a:p>
            <a:pPr algn="l">
              <a:lnSpc>
                <a:spcPts val="2688"/>
              </a:lnSpc>
            </a:pPr>
            <a:r>
              <a:rPr lang="en-US" sz="1400">
                <a:solidFill>
                  <a:srgbClr val="8C7355"/>
                </a:solidFill>
                <a:latin typeface="Open Sans"/>
                <a:ea typeface="Open Sans"/>
                <a:cs typeface="Open Sans"/>
                <a:sym typeface="Open Sans"/>
              </a:rPr>
              <a:t>Winell, M. (2006). Leaving the fold: A guide for former fundamentalists and others leaving their religion. Apocryphile Press.</a:t>
            </a:r>
          </a:p>
          <a:p>
            <a:pPr algn="l">
              <a:lnSpc>
                <a:spcPts val="2688"/>
              </a:lnSpc>
              <a:spcBef>
                <a:spcPct val="0"/>
              </a:spcBef>
            </a:pPr>
            <a:r>
              <a:rPr lang="en-US" sz="1400">
                <a:solidFill>
                  <a:srgbClr val="8C7355"/>
                </a:solidFill>
                <a:latin typeface="Open Sans"/>
                <a:ea typeface="Open Sans"/>
                <a:cs typeface="Open Sans"/>
                <a:sym typeface="Open Sans"/>
              </a:rPr>
              <a:t>Religious Trauma Institute. (n.d.). Religious Trauma Institute. </a:t>
            </a:r>
            <a:r>
              <a:rPr lang="en-US" sz="1400" u="sng">
                <a:solidFill>
                  <a:srgbClr val="8C7355"/>
                </a:solidFill>
                <a:latin typeface="Open Sans"/>
                <a:ea typeface="Open Sans"/>
                <a:cs typeface="Open Sans"/>
                <a:sym typeface="Open Sans"/>
                <a:hlinkClick r:id="rId4" tooltip="https://www.religioustraumainstitute.com"/>
              </a:rPr>
              <a:t>Azim, K. A., Happel-Parkins, A., Moses, A., &amp; Haardoerfer, R. (2021). Exploring relationships between genito-pelvic pain/penetration disorder, sex guilt, and religiosity among college women in the U.S. The Journal of Sexual Medicine, 18(4), 770–782. https://doi.org/10.1016/j.jsxm.2021.02.003</a:t>
            </a:r>
          </a:p>
          <a:p>
            <a:pPr algn="l">
              <a:lnSpc>
                <a:spcPts val="2688"/>
              </a:lnSpc>
              <a:spcBef>
                <a:spcPct val="0"/>
              </a:spcBef>
            </a:pPr>
            <a:r>
              <a:rPr lang="en-US" sz="1400" u="sng">
                <a:solidFill>
                  <a:srgbClr val="8C7355"/>
                </a:solidFill>
                <a:latin typeface="Open Sans"/>
                <a:ea typeface="Open Sans"/>
                <a:cs typeface="Open Sans"/>
                <a:sym typeface="Open Sans"/>
                <a:hlinkClick r:id="rId5" tooltip="https://www.religioustraumainstitute.com"/>
              </a:rPr>
              <a:t>Henderson, K. R., &amp; Burdette, A. M. (2026). Purity culture and sexual shame among adults with Christian religious backgrounds. Journal of Counseling Sexology &amp; Sexual Wellness, 7(1), Article 1. https://digitalcommons.unf.edu/jcssw/vol7/iss1/1/</a:t>
            </a:r>
          </a:p>
          <a:p>
            <a:pPr algn="l">
              <a:lnSpc>
                <a:spcPts val="2688"/>
              </a:lnSpc>
              <a:spcBef>
                <a:spcPct val="0"/>
              </a:spcBef>
            </a:pPr>
            <a:r>
              <a:rPr lang="en-US" sz="1400" u="sng">
                <a:solidFill>
                  <a:srgbClr val="8C7355"/>
                </a:solidFill>
                <a:latin typeface="Open Sans"/>
                <a:ea typeface="Open Sans"/>
                <a:cs typeface="Open Sans"/>
                <a:sym typeface="Open Sans"/>
                <a:hlinkClick r:id="rId6" tooltip="https://www.religioustraumainstitute.com"/>
              </a:rPr>
              <a:t>Klein, L. K. (2018). Pure: Inside the evangelical movement that shamed a generation of young women and how I broke free. Touchstone.</a:t>
            </a:r>
          </a:p>
          <a:p>
            <a:pPr algn="l">
              <a:lnSpc>
                <a:spcPts val="2688"/>
              </a:lnSpc>
              <a:spcBef>
                <a:spcPct val="0"/>
              </a:spcBef>
            </a:pPr>
            <a:r>
              <a:rPr lang="en-US" sz="1400" u="sng">
                <a:solidFill>
                  <a:srgbClr val="8C7355"/>
                </a:solidFill>
                <a:latin typeface="Open Sans"/>
                <a:ea typeface="Open Sans"/>
                <a:cs typeface="Open Sans"/>
                <a:sym typeface="Open Sans"/>
                <a:hlinkClick r:id="rId7" tooltip="https://www.religioustraumainstitute.com"/>
              </a:rPr>
              <a:t>Nagoski, E. (2021). Come as you are: Revised and updated: The surprising new science that will transform your sex life. Simon &amp; Schuster.</a:t>
            </a:r>
          </a:p>
          <a:p>
            <a:pPr algn="l">
              <a:lnSpc>
                <a:spcPts val="2688"/>
              </a:lnSpc>
              <a:spcBef>
                <a:spcPct val="0"/>
              </a:spcBef>
            </a:pPr>
            <a:r>
              <a:rPr lang="en-US" sz="1400" u="sng">
                <a:solidFill>
                  <a:srgbClr val="8C7355"/>
                </a:solidFill>
                <a:latin typeface="Open Sans"/>
                <a:ea typeface="Open Sans"/>
                <a:cs typeface="Open Sans"/>
                <a:sym typeface="Open Sans"/>
                <a:hlinkClick r:id="rId8" tooltip="https://www.religioustraumainstitute.com"/>
              </a:rPr>
              <a:t>Pew Research Center. (2024). Religious Landscape Study. Pew Research Center. https://www.pewresearch.org/religion/religious-landscape-study/</a:t>
            </a:r>
          </a:p>
          <a:p>
            <a:pPr algn="l">
              <a:lnSpc>
                <a:spcPts val="2688"/>
              </a:lnSpc>
              <a:spcBef>
                <a:spcPct val="0"/>
              </a:spcBef>
            </a:pPr>
            <a:r>
              <a:rPr lang="en-US" sz="1400" u="sng">
                <a:solidFill>
                  <a:srgbClr val="8C7355"/>
                </a:solidFill>
                <a:latin typeface="Open Sans"/>
                <a:ea typeface="Open Sans"/>
                <a:cs typeface="Open Sans"/>
                <a:sym typeface="Open Sans"/>
                <a:hlinkClick r:id="rId9" tooltip="https://www.religioustraumainstitute.com"/>
              </a:rPr>
              <a:t>Religious Trauma Institute. (n.d.). Religious Trauma Institute. https://www.religioustraumainstitute.com/</a:t>
            </a:r>
          </a:p>
          <a:p>
            <a:pPr algn="l">
              <a:lnSpc>
                <a:spcPts val="2688"/>
              </a:lnSpc>
              <a:spcBef>
                <a:spcPct val="0"/>
              </a:spcBef>
            </a:pPr>
            <a:r>
              <a:rPr lang="en-US" sz="1400" u="sng">
                <a:solidFill>
                  <a:srgbClr val="8C7355"/>
                </a:solidFill>
                <a:latin typeface="Open Sans"/>
                <a:ea typeface="Open Sans"/>
                <a:cs typeface="Open Sans"/>
                <a:sym typeface="Open Sans"/>
                <a:hlinkClick r:id="rId10" tooltip="https://www.religioustraumainstitute.com"/>
              </a:rPr>
              <a:t>Schermer Sellers, T. (2017). Sex, God, and the conservative church: Erasing shame from sexual intimacy. Routledge.</a:t>
            </a:r>
          </a:p>
          <a:p>
            <a:pPr algn="l">
              <a:lnSpc>
                <a:spcPts val="2688"/>
              </a:lnSpc>
              <a:spcBef>
                <a:spcPct val="0"/>
              </a:spcBef>
            </a:pPr>
            <a:r>
              <a:rPr lang="en-US" sz="1400" u="sng">
                <a:solidFill>
                  <a:srgbClr val="8C7355"/>
                </a:solidFill>
                <a:latin typeface="Open Sans"/>
                <a:ea typeface="Open Sans"/>
                <a:cs typeface="Open Sans"/>
                <a:sym typeface="Open Sans"/>
                <a:hlinkClick r:id="rId11" tooltip="https://www.religioustraumainstitute.com"/>
              </a:rPr>
              <a:t>Sexual shame and purity culture study. (n.d.). PubMed. https://pubmed.ncbi.nlm.nih.gov/41983601/</a:t>
            </a:r>
          </a:p>
          <a:p>
            <a:pPr algn="l">
              <a:lnSpc>
                <a:spcPts val="2688"/>
              </a:lnSpc>
              <a:spcBef>
                <a:spcPct val="0"/>
              </a:spcBef>
            </a:pPr>
            <a:r>
              <a:rPr lang="en-US" sz="1400" u="sng">
                <a:solidFill>
                  <a:srgbClr val="8C7355"/>
                </a:solidFill>
                <a:latin typeface="Open Sans"/>
                <a:ea typeface="Open Sans"/>
                <a:cs typeface="Open Sans"/>
                <a:sym typeface="Open Sans"/>
                <a:hlinkClick r:id="rId12" tooltip="https://www.religioustraumainstitute.com"/>
              </a:rPr>
              <a:t>Winell, M. (2006). Leaving the fold: A guide for former fundamentalists and others leaving their religion. Apocryphile Press.</a:t>
            </a:r>
          </a:p>
          <a:p>
            <a:pPr algn="l">
              <a:lnSpc>
                <a:spcPts val="2688"/>
              </a:lnSpc>
              <a:spcBef>
                <a:spcPct val="0"/>
              </a:spcBef>
            </a:pPr>
            <a:r>
              <a:rPr lang="en-US" sz="1400">
                <a:solidFill>
                  <a:srgbClr val="8C7355"/>
                </a:solidFill>
                <a:latin typeface="Open Sans"/>
                <a:ea typeface="Open Sans"/>
                <a:cs typeface="Open Sans"/>
                <a:sym typeface="Open Sans"/>
              </a:rPr>
              <a:t>Azim, K. A., Happel-Parkins, A., Moses, A., &amp; Haardoerfer, R. (2021). Exploring relationships between genito-pelvic pain/penetration disorder, sex guilt, and religiosity among college women in the U.S. Journal of Sexual Medicine, 18(4), 770–782. https://doi.org/10.1016/j.jsxm.2021.02.003</a:t>
            </a:r>
          </a:p>
        </p:txBody>
      </p:sp>
      <p:sp>
        <p:nvSpPr>
          <p:cNvPr name="TextBox 3" id="3"/>
          <p:cNvSpPr txBox="true"/>
          <p:nvPr/>
        </p:nvSpPr>
        <p:spPr>
          <a:xfrm rot="0">
            <a:off x="352710" y="685808"/>
            <a:ext cx="3984509" cy="685784"/>
          </a:xfrm>
          <a:prstGeom prst="rect">
            <a:avLst/>
          </a:prstGeom>
        </p:spPr>
        <p:txBody>
          <a:bodyPr anchor="t" rtlCol="false" tIns="0" lIns="0" bIns="0" rIns="0">
            <a:spAutoFit/>
          </a:bodyPr>
          <a:lstStyle/>
          <a:p>
            <a:pPr algn="l">
              <a:lnSpc>
                <a:spcPts val="5400"/>
              </a:lnSpc>
            </a:pPr>
            <a:r>
              <a:rPr lang="en-US" b="true" sz="4500">
                <a:solidFill>
                  <a:srgbClr val="8C7355"/>
                </a:solidFill>
                <a:latin typeface="Montserrat Bold"/>
                <a:ea typeface="Montserrat Bold"/>
                <a:cs typeface="Montserrat Bold"/>
                <a:sym typeface="Montserrat Bold"/>
              </a:rPr>
              <a:t>REFERENCES</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F4F1EA"/>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DAHPKICLBxc</dc:identifier>
  <dcterms:modified xsi:type="dcterms:W3CDTF">2011-08-01T06:04:30Z</dcterms:modified>
  <cp:revision>1</cp:revision>
  <dc:title>Interactive Presentation for Religious Shame</dc:title>
</cp:coreProperties>
</file>